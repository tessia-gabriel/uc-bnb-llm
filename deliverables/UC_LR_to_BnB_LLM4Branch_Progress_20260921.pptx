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3" r:id="rId3"/>
    <p:sldId id="264" r:id="rId4"/>
    <p:sldId id="265" r:id="rId5"/>
    <p:sldId id="256" r:id="rId6"/>
    <p:sldId id="257" r:id="rId7"/>
    <p:sldId id="258" r:id="rId8"/>
    <p:sldId id="259" r:id="rId9"/>
    <p:sldId id="266" r:id="rId10"/>
    <p:sldId id="261" r:id="rId11"/>
    <p:sldId id="262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2918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168A8A"/>
                </a:solidFill>
                <a:latin typeface="Noto Sans CJK SC" panose="020B0500000000000000" charset="-122"/>
              </a:rPr>
              <a:t>01 研究动机</a:t>
            </a:r>
            <a:endParaRPr sz="1000" b="1">
              <a:solidFill>
                <a:srgbClr val="168A8A"/>
              </a:solidFill>
              <a:latin typeface="Noto Sans CJK SC" panose="020B05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Noto Sans CJK SC" panose="020B0500000000000000" charset="-122"/>
              </a:rPr>
              <a:t>为什么需要完整重构？</a:t>
            </a:r>
            <a:endParaRPr sz="2700" b="1">
              <a:solidFill>
                <a:srgbClr val="17324D"/>
              </a:solidFill>
              <a:latin typeface="Noto Sans CJK SC" panose="020B05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216152"/>
            <a:ext cx="11000232" cy="16459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6428232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17180"/>
                </a:solidFill>
                <a:latin typeface="Noto Sans CJK SC" panose="020B0500000000000000" charset="-122"/>
              </a:rPr>
              <a:t>02</a:t>
            </a:r>
            <a:endParaRPr sz="900" b="0">
              <a:solidFill>
                <a:srgbClr val="617180"/>
              </a:solidFill>
              <a:latin typeface="Noto Sans CJK SC" panose="020B05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572768"/>
            <a:ext cx="5193792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72768"/>
            <a:ext cx="54864" cy="1572768"/>
          </a:xfrm>
          <a:prstGeom prst="rect">
            <a:avLst/>
          </a:prstGeom>
          <a:solidFill>
            <a:srgbClr val="356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91640"/>
            <a:ext cx="488289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7324D"/>
                </a:solidFill>
                <a:latin typeface="Noto Sans CJK SC" panose="020B0500000000000000" charset="-122"/>
              </a:rPr>
              <a:t>固定规模假设</a:t>
            </a:r>
            <a:endParaRPr sz="1700" b="1">
              <a:solidFill>
                <a:srgbClr val="17324D"/>
              </a:solidFill>
              <a:latin typeface="Noto Sans CJK SC" panose="020B05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392" y="2075688"/>
            <a:ext cx="4882896" cy="950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617180"/>
                </a:solidFill>
                <a:latin typeface="Noto Sans CJK SC" panose="020B0500000000000000" charset="-122"/>
              </a:rPr>
              <a:t>旧状态依赖固定 N 与统一 V，难以回答跨规模泛化。</a:t>
            </a:r>
            <a:endParaRPr sz="1300" b="0">
              <a:solidFill>
                <a:srgbClr val="617180"/>
              </a:solidFill>
              <a:latin typeface="Noto Sans CJK SC" panose="020B0500000000000000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09360" y="1572768"/>
            <a:ext cx="5193792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572768"/>
            <a:ext cx="54864" cy="1572768"/>
          </a:xfrm>
          <a:prstGeom prst="rect">
            <a:avLst/>
          </a:prstGeom>
          <a:solidFill>
            <a:srgbClr val="16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691640"/>
            <a:ext cx="488289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7324D"/>
                </a:solidFill>
                <a:latin typeface="Noto Sans CJK SC" panose="020B0500000000000000" charset="-122"/>
              </a:rPr>
              <a:t>动作身份模糊</a:t>
            </a:r>
            <a:endParaRPr sz="1700" b="1">
              <a:solidFill>
                <a:srgbClr val="17324D"/>
              </a:solidFill>
              <a:latin typeface="Noto Sans CJK SC" panose="020B05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73952" y="2075688"/>
            <a:ext cx="4882896" cy="950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617180"/>
                </a:solidFill>
                <a:latin typeface="Noto Sans CJK SC" panose="020B0500000000000000" charset="-122"/>
              </a:rPr>
              <a:t>属性相似的候选动作无法明确关联到被升级组件。</a:t>
            </a:r>
            <a:endParaRPr sz="1300" b="0">
              <a:solidFill>
                <a:srgbClr val="617180"/>
              </a:solidFill>
              <a:latin typeface="Noto Sans CJK SC" panose="020B05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85800" y="3520439"/>
            <a:ext cx="5193792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520439"/>
            <a:ext cx="54864" cy="1572768"/>
          </a:xfrm>
          <a:prstGeom prst="rect">
            <a:avLst/>
          </a:prstGeom>
          <a:solidFill>
            <a:srgbClr val="D8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639311"/>
            <a:ext cx="488289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7324D"/>
                </a:solidFill>
                <a:latin typeface="Noto Sans CJK SC" panose="020B0500000000000000" charset="-122"/>
              </a:rPr>
              <a:t>结构—动作交互不清</a:t>
            </a:r>
            <a:endParaRPr sz="1700" b="1">
              <a:solidFill>
                <a:srgbClr val="17324D"/>
              </a:solidFill>
              <a:latin typeface="Noto Sans CJK SC" panose="020B05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0392" y="4023359"/>
            <a:ext cx="4882896" cy="950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617180"/>
                </a:solidFill>
                <a:latin typeface="Noto Sans CJK SC" panose="020B0500000000000000" charset="-122"/>
              </a:rPr>
              <a:t>旧 FiLM + sigmoid gating 曾被表述为 Cross-Attention。</a:t>
            </a:r>
            <a:endParaRPr sz="1300" b="0">
              <a:solidFill>
                <a:srgbClr val="617180"/>
              </a:solidFill>
              <a:latin typeface="Noto Sans CJK SC" panose="020B05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309360" y="3520439"/>
            <a:ext cx="5193792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520439"/>
            <a:ext cx="54864" cy="1572768"/>
          </a:xfrm>
          <a:prstGeom prst="rect">
            <a:avLst/>
          </a:prstGeom>
          <a:solidFill>
            <a:srgbClr val="B6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3639311"/>
            <a:ext cx="4882896" cy="3333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7324D"/>
                </a:solidFill>
                <a:latin typeface="Noto Sans CJK SC" panose="020B0500000000000000" charset="-122"/>
              </a:rPr>
              <a:t>鲁棒性在表述</a:t>
            </a:r>
            <a:r>
              <a:rPr lang="zh-CN" sz="1700" b="1">
                <a:solidFill>
                  <a:srgbClr val="17324D"/>
                </a:solidFill>
                <a:latin typeface="Noto Sans CJK SC" panose="020B0500000000000000" charset="-122"/>
              </a:rPr>
              <a:t>上矛盾</a:t>
            </a:r>
            <a:endParaRPr lang="zh-CN" sz="1700" b="1">
              <a:solidFill>
                <a:srgbClr val="17324D"/>
              </a:solidFill>
              <a:latin typeface="Noto Sans CJK SC" panose="020B05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73952" y="4023359"/>
            <a:ext cx="4882896" cy="472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US" altLang="zh-CN" sz="1300" b="0">
                <a:solidFill>
                  <a:srgbClr val="617180"/>
                </a:solidFill>
                <a:latin typeface="Noto Sans CJK SC" panose="020B0500000000000000" charset="-122"/>
              </a:rPr>
              <a:t>UCB </a:t>
            </a:r>
            <a:r>
              <a:rPr lang="zh-CN" altLang="en-US" sz="1300" b="0">
                <a:solidFill>
                  <a:srgbClr val="617180"/>
                </a:solidFill>
                <a:latin typeface="Noto Sans CJK SC" panose="020B0500000000000000" charset="-122"/>
              </a:rPr>
              <a:t>希望探索高</a:t>
            </a:r>
            <a:r>
              <a:rPr lang="en-US" altLang="zh-CN" sz="1300" b="0">
                <a:solidFill>
                  <a:srgbClr val="617180"/>
                </a:solidFill>
                <a:latin typeface="Noto Sans CJK SC" panose="020B0500000000000000" charset="-122"/>
              </a:rPr>
              <a:t> epistemic uncertainty </a:t>
            </a:r>
            <a:r>
              <a:rPr lang="zh-CN" altLang="en-US" sz="1300" b="0">
                <a:solidFill>
                  <a:srgbClr val="617180"/>
                </a:solidFill>
                <a:latin typeface="Noto Sans CJK SC" panose="020B0500000000000000" charset="-122"/>
              </a:rPr>
              <a:t>区域；</a:t>
            </a:r>
            <a:endParaRPr lang="zh-CN" altLang="en-US" sz="1300" b="0">
              <a:solidFill>
                <a:srgbClr val="617180"/>
              </a:solidFill>
              <a:latin typeface="Noto Sans CJK SC" panose="020B0500000000000000" charset="-122"/>
            </a:endParaRPr>
          </a:p>
          <a:p>
            <a:pPr algn="l"/>
            <a:r>
              <a:rPr lang="en-US" altLang="zh-CN" sz="1300" b="0">
                <a:solidFill>
                  <a:srgbClr val="617180"/>
                </a:solidFill>
                <a:latin typeface="Noto Sans CJK SC" panose="020B0500000000000000" charset="-122"/>
              </a:rPr>
              <a:t>LCB </a:t>
            </a:r>
            <a:r>
              <a:rPr lang="zh-CN" altLang="en-US" sz="1300" b="0">
                <a:solidFill>
                  <a:srgbClr val="617180"/>
                </a:solidFill>
                <a:latin typeface="Noto Sans CJK SC" panose="020B0500000000000000" charset="-122"/>
              </a:rPr>
              <a:t>又惩罚同一批高</a:t>
            </a:r>
            <a:r>
              <a:rPr lang="en-US" altLang="zh-CN" sz="1300" b="0">
                <a:solidFill>
                  <a:srgbClr val="617180"/>
                </a:solidFill>
                <a:latin typeface="Noto Sans CJK SC" panose="020B0500000000000000" charset="-122"/>
              </a:rPr>
              <a:t> uncertainty </a:t>
            </a:r>
            <a:r>
              <a:rPr lang="zh-CN" altLang="en-US" sz="1300" b="0">
                <a:solidFill>
                  <a:srgbClr val="617180"/>
                </a:solidFill>
                <a:latin typeface="Noto Sans CJK SC" panose="020B0500000000000000" charset="-122"/>
              </a:rPr>
              <a:t>区域；</a:t>
            </a:r>
            <a:endParaRPr lang="zh-CN" altLang="en-US" sz="1300" b="0">
              <a:solidFill>
                <a:srgbClr val="617180"/>
              </a:solidFill>
              <a:latin typeface="Noto Sans CJK SC" panose="020B05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291840" cy="2260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168A8A"/>
                </a:solidFill>
                <a:latin typeface="Noto Sans CJK SC" panose="020B0500000000000000" charset="-122"/>
              </a:rPr>
              <a:t>0</a:t>
            </a:r>
            <a:r>
              <a:rPr lang="en-US" sz="1000" b="1">
                <a:solidFill>
                  <a:srgbClr val="168A8A"/>
                </a:solidFill>
                <a:latin typeface="Noto Sans CJK SC" panose="020B0500000000000000" charset="-122"/>
              </a:rPr>
              <a:t>2</a:t>
            </a:r>
            <a:r>
              <a:rPr sz="1000" b="1">
                <a:solidFill>
                  <a:srgbClr val="168A8A"/>
                </a:solidFill>
                <a:latin typeface="Noto Sans CJK SC" panose="020B0500000000000000" charset="-122"/>
              </a:rPr>
              <a:t> 环境</a:t>
            </a:r>
            <a:endParaRPr sz="1000" b="1">
              <a:solidFill>
                <a:srgbClr val="168A8A"/>
              </a:solidFill>
              <a:latin typeface="Noto Sans CJK SC" panose="020B05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Noto Sans CJK SC" panose="020B0500000000000000" charset="-122"/>
              </a:rPr>
              <a:t>可变 N 与异构 Vᵢ：状态不再依赖固定张量尺寸</a:t>
            </a:r>
            <a:endParaRPr sz="2700" b="1">
              <a:solidFill>
                <a:srgbClr val="17324D"/>
              </a:solidFill>
              <a:latin typeface="Noto Sans CJK SC" panose="020B05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216152"/>
            <a:ext cx="11000232" cy="16459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6428232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617180"/>
                </a:solidFill>
                <a:latin typeface="Noto Sans CJK SC" panose="020B0500000000000000" charset="-122"/>
              </a:rPr>
              <a:t>04</a:t>
            </a:r>
            <a:endParaRPr sz="900" b="0">
              <a:solidFill>
                <a:srgbClr val="617180"/>
              </a:solidFill>
              <a:latin typeface="Noto Sans CJK SC" panose="020B05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0175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54864" cy="1234440"/>
          </a:xfrm>
          <a:prstGeom prst="rect">
            <a:avLst/>
          </a:prstGeom>
          <a:solidFill>
            <a:srgbClr val="356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73352"/>
            <a:ext cx="2706624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7324D"/>
                </a:solidFill>
                <a:latin typeface="Noto Sans CJK SC" panose="020B0500000000000000" charset="-122"/>
              </a:rPr>
              <a:t>组件数量 N</a:t>
            </a:r>
            <a:endParaRPr sz="1700" b="1">
              <a:solidFill>
                <a:srgbClr val="17324D"/>
              </a:solidFill>
              <a:latin typeface="Noto Sans CJK SC" panose="020B05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392" y="2057400"/>
            <a:ext cx="2706624" cy="612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617180"/>
                </a:solidFill>
                <a:latin typeface="Noto Sans CJK SC" panose="020B0500000000000000" charset="-122"/>
              </a:rPr>
              <a:t>训练分布：16 / 20 / 24
评估：插值、外推与复合偏移</a:t>
            </a:r>
            <a:endParaRPr sz="1300" b="0">
              <a:solidFill>
                <a:srgbClr val="617180"/>
              </a:solidFill>
              <a:latin typeface="Noto Sans CJK SC" panose="020B0500000000000000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3017520"/>
            <a:ext cx="30175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017520"/>
            <a:ext cx="54864" cy="1234440"/>
          </a:xfrm>
          <a:prstGeom prst="rect">
            <a:avLst/>
          </a:prstGeom>
          <a:solidFill>
            <a:srgbClr val="16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136391"/>
            <a:ext cx="2706624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7324D"/>
                </a:solidFill>
                <a:latin typeface="Noto Sans CJK SC" panose="020B0500000000000000" charset="-122"/>
              </a:rPr>
              <a:t>版本数量 Vᵢ</a:t>
            </a:r>
            <a:endParaRPr sz="1700" b="1">
              <a:solidFill>
                <a:srgbClr val="17324D"/>
              </a:solidFill>
              <a:latin typeface="Noto Sans CJK SC" panose="020B05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0392" y="3520439"/>
            <a:ext cx="2706624" cy="612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617180"/>
                </a:solidFill>
                <a:latin typeface="Noto Sans CJK SC" panose="020B0500000000000000" charset="-122"/>
              </a:rPr>
              <a:t>每个组件独立版本上限
当前训练范围：10–18</a:t>
            </a:r>
            <a:endParaRPr sz="1300" b="0">
              <a:solidFill>
                <a:srgbClr val="617180"/>
              </a:solidFill>
              <a:latin typeface="Noto Sans CJK SC" panose="020B05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85800" y="4480560"/>
            <a:ext cx="30175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480560"/>
            <a:ext cx="54864" cy="1234440"/>
          </a:xfrm>
          <a:prstGeom prst="rect">
            <a:avLst/>
          </a:prstGeom>
          <a:solidFill>
            <a:srgbClr val="D8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599432"/>
            <a:ext cx="2706624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17324D"/>
                </a:solidFill>
                <a:latin typeface="Noto Sans CJK SC" panose="020B0500000000000000" charset="-122"/>
              </a:rPr>
              <a:t>候选集合 |A(s)|</a:t>
            </a:r>
            <a:endParaRPr sz="1700" b="1">
              <a:solidFill>
                <a:srgbClr val="17324D"/>
              </a:solidFill>
              <a:latin typeface="Noto Sans CJK SC" panose="020B05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0392" y="4983480"/>
            <a:ext cx="2706624" cy="612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617180"/>
                </a:solidFill>
                <a:latin typeface="Noto Sans CJK SC" panose="020B0500000000000000" charset="-122"/>
              </a:rPr>
              <a:t>按状态动态生成合法动作
使用 ragged batch，不做固定填充</a:t>
            </a:r>
            <a:endParaRPr sz="1300" b="0">
              <a:solidFill>
                <a:srgbClr val="617180"/>
              </a:solidFill>
              <a:latin typeface="Noto Sans CJK SC" panose="020B05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343400" y="1828800"/>
            <a:ext cx="1481328" cy="777240"/>
          </a:xfrm>
          <a:prstGeom prst="roundRect">
            <a:avLst/>
          </a:prstGeom>
          <a:solidFill>
            <a:srgbClr val="E8F0F7"/>
          </a:solidFill>
          <a:ln w="15240">
            <a:solidFill>
              <a:srgbClr val="356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847088"/>
            <a:ext cx="1389888" cy="7406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7324D"/>
                </a:solidFill>
                <a:latin typeface="Noto Sans CJK SC" panose="020B0500000000000000" charset="-122"/>
              </a:rPr>
              <a:t>可变节点图
Gₜ=(V,E)</a:t>
            </a:r>
            <a:endParaRPr sz="1300" b="1">
              <a:solidFill>
                <a:srgbClr val="17324D"/>
              </a:solidFill>
              <a:latin typeface="Noto Sans CJK SC" panose="020B0500000000000000" charset="-122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5961888" y="2103120"/>
            <a:ext cx="411480" cy="237744"/>
          </a:xfrm>
          <a:prstGeom prst="rightArrow">
            <a:avLst/>
          </a:prstGeom>
          <a:solidFill>
            <a:srgbClr val="16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92240" y="1828800"/>
            <a:ext cx="1600200" cy="777240"/>
          </a:xfrm>
          <a:prstGeom prst="roundRect">
            <a:avLst/>
          </a:prstGeom>
          <a:solidFill>
            <a:srgbClr val="DFF3F2"/>
          </a:solidFill>
          <a:ln w="15240">
            <a:solidFill>
              <a:srgbClr val="16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59" y="1847088"/>
            <a:ext cx="1508760" cy="7406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7324D"/>
                </a:solidFill>
                <a:latin typeface="Noto Sans CJK SC" panose="020B0500000000000000" charset="-122"/>
              </a:rPr>
              <a:t>BiDAG
双向约束传播</a:t>
            </a:r>
            <a:endParaRPr sz="1300" b="1">
              <a:solidFill>
                <a:srgbClr val="17324D"/>
              </a:solidFill>
              <a:latin typeface="Noto Sans CJK SC" panose="020B0500000000000000" charset="-122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8229600" y="2103120"/>
            <a:ext cx="411480" cy="237744"/>
          </a:xfrm>
          <a:prstGeom prst="rightArrow">
            <a:avLst/>
          </a:prstGeom>
          <a:solidFill>
            <a:srgbClr val="16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78240" y="1828800"/>
            <a:ext cx="13258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6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1847088"/>
            <a:ext cx="1234439" cy="7406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7324D"/>
                </a:solidFill>
                <a:latin typeface="Noto Sans CJK SC" panose="020B0500000000000000" charset="-122"/>
              </a:rPr>
              <a:t>节点表示
{hᵢ}</a:t>
            </a:r>
            <a:endParaRPr sz="1300" b="1">
              <a:solidFill>
                <a:srgbClr val="17324D"/>
              </a:solidFill>
              <a:latin typeface="Noto Sans CJK SC" panose="020B0500000000000000" charset="-122"/>
            </a:endParaRPr>
          </a:p>
        </p:txBody>
      </p:sp>
      <p:sp>
        <p:nvSpPr>
          <p:cNvPr id="26" name="Right Arrow 25"/>
          <p:cNvSpPr/>
          <p:nvPr/>
        </p:nvSpPr>
        <p:spPr>
          <a:xfrm>
            <a:off x="10222992" y="2103120"/>
            <a:ext cx="411480" cy="237744"/>
          </a:xfrm>
          <a:prstGeom prst="rightArrow">
            <a:avLst/>
          </a:prstGeom>
          <a:solidFill>
            <a:srgbClr val="16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716768" y="1828800"/>
            <a:ext cx="960120" cy="777240"/>
          </a:xfrm>
          <a:prstGeom prst="roundRect">
            <a:avLst/>
          </a:prstGeom>
          <a:solidFill>
            <a:srgbClr val="F8EBDD"/>
          </a:solidFill>
          <a:ln w="15240">
            <a:solidFill>
              <a:srgbClr val="D88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62488" y="1847088"/>
            <a:ext cx="868680" cy="7406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7324D"/>
                </a:solidFill>
                <a:latin typeface="Noto Sans CJK SC" panose="020B0500000000000000" charset="-122"/>
              </a:rPr>
              <a:t>动态候选
策略分布</a:t>
            </a:r>
            <a:endParaRPr sz="1200" b="1">
              <a:solidFill>
                <a:srgbClr val="17324D"/>
              </a:solidFill>
              <a:latin typeface="Noto Sans CJK SC" panose="020B05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370832" y="3200400"/>
            <a:ext cx="1371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168A8A"/>
                </a:solidFill>
                <a:latin typeface="Noto Sans CJK SC" panose="020B0500000000000000" charset="-122"/>
              </a:rPr>
              <a:t>核心结果</a:t>
            </a:r>
            <a:endParaRPr sz="1200" b="1">
              <a:solidFill>
                <a:srgbClr val="168A8A"/>
              </a:solidFill>
              <a:latin typeface="Noto Sans CJK SC" panose="020B05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343400" y="3584448"/>
            <a:ext cx="7086600" cy="960755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168A8A"/>
                </a:solidFill>
                <a:latin typeface="Noto Sans CJK SC" panose="020B0500000000000000" charset="-122"/>
              </a:rPr>
              <a:t>●  </a:t>
            </a:r>
            <a:r>
              <a:rPr sz="1500">
                <a:solidFill>
                  <a:srgbClr val="23313F"/>
                </a:solidFill>
                <a:latin typeface="Noto Sans CJK SC" panose="020B0500000000000000" charset="-122"/>
              </a:rPr>
              <a:t>网络参数量与 N、Vᵢ 无关，可在不同规模图上复用。</a:t>
            </a:r>
            <a:endParaRPr sz="1500">
              <a:solidFill>
                <a:srgbClr val="23313F"/>
              </a:solidFill>
              <a:latin typeface="Noto Sans CJK SC" panose="020B0500000000000000" charset="-122"/>
            </a:endParaRP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68A8A"/>
                </a:solidFill>
                <a:latin typeface="Noto Sans CJK SC" panose="020B0500000000000000" charset="-122"/>
              </a:rPr>
              <a:t>●  </a:t>
            </a:r>
            <a:r>
              <a:rPr sz="1500">
                <a:solidFill>
                  <a:srgbClr val="23313F"/>
                </a:solidFill>
                <a:latin typeface="Noto Sans CJK SC" panose="020B0500000000000000" charset="-122"/>
              </a:rPr>
              <a:t>每个候选保留 component index、依赖 mask 与 dependency gap。</a:t>
            </a:r>
            <a:endParaRPr sz="1500">
              <a:solidFill>
                <a:srgbClr val="23313F"/>
              </a:solidFill>
              <a:latin typeface="Noto Sans CJK SC" panose="020B0500000000000000" charset="-122"/>
            </a:endParaRPr>
          </a:p>
          <a:p>
            <a:pPr>
              <a:spcAft>
                <a:spcPts val="800"/>
              </a:spcAft>
            </a:pPr>
            <a:endParaRPr sz="1500">
              <a:solidFill>
                <a:srgbClr val="23313F"/>
              </a:solidFill>
              <a:latin typeface="Noto Sans CJK SC" panose="020B05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2918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168A8A"/>
                </a:solidFill>
                <a:latin typeface="Noto Sans CJK SC" panose="020B0500000000000000" charset="-122"/>
              </a:rPr>
              <a:t>08 算法</a:t>
            </a:r>
            <a:endParaRPr sz="1000" b="1">
              <a:solidFill>
                <a:srgbClr val="168A8A"/>
              </a:solidFill>
              <a:latin typeface="Noto Sans CJK SC" panose="020B05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Noto Sans CJK SC" panose="020B0500000000000000" charset="-122"/>
              </a:rPr>
              <a:t>当前鲁棒训练闭环：UCB 探索 + Wasserstein 学习</a:t>
            </a:r>
            <a:endParaRPr sz="2700" b="1">
              <a:solidFill>
                <a:srgbClr val="17324D"/>
              </a:solidFill>
              <a:latin typeface="Noto Sans CJK SC" panose="020B05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216152"/>
            <a:ext cx="11000232" cy="16459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图片 36" descr="my-networ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1000" y="1332865"/>
            <a:ext cx="8129270" cy="5400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2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603504"/>
            <a:ext cx="667512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77D5D0"/>
                </a:solidFill>
                <a:latin typeface="Noto Sans CJK SC" panose="020B0500000000000000" charset="-122"/>
              </a:rPr>
              <a:t>UNIT COMMITMENT · RESEARCH UPDATE</a:t>
            </a:r>
            <a:endParaRPr sz="1100" b="1">
              <a:solidFill>
                <a:srgbClr val="77D5D0"/>
              </a:solidFill>
              <a:latin typeface="Noto Sans CJK SC" panose="020B05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86384" y="1115568"/>
            <a:ext cx="7589520" cy="1508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3100" b="1">
                <a:solidFill>
                  <a:srgbClr val="FFFFFF"/>
                </a:solidFill>
                <a:latin typeface="Noto Sans CJK SC" panose="020B0500000000000000" charset="-122"/>
              </a:rPr>
              <a:t>从拉格朗日松弛到
学习增强的分支定界</a:t>
            </a:r>
            <a:endParaRPr sz="31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3816" y="2798064"/>
            <a:ext cx="7955279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C8D3E3"/>
                </a:solidFill>
                <a:latin typeface="Noto Sans CJK SC" panose="020B0500000000000000" charset="-122"/>
              </a:rPr>
              <a:t>路线转向的原因 · LLM4Branch 研究进展 · 当前复现证据</a:t>
            </a:r>
            <a:endParaRPr sz="1600" b="0">
              <a:solidFill>
                <a:srgbClr val="C8D3E3"/>
              </a:solidFill>
              <a:latin typeface="Noto Sans CJK SC" panose="020B05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723376" y="1078992"/>
            <a:ext cx="2542032" cy="4160520"/>
          </a:xfrm>
          <a:prstGeom prst="roundRect">
            <a:avLst>
              <a:gd name="adj" fmla="val 8000"/>
            </a:avLst>
          </a:prstGeom>
          <a:solidFill>
            <a:srgbClr val="162F53"/>
          </a:solidFill>
          <a:ln w="12700">
            <a:solidFill>
              <a:srgbClr val="29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28048" y="1600200"/>
            <a:ext cx="932688" cy="932688"/>
          </a:xfrm>
          <a:prstGeom prst="ellipse">
            <a:avLst/>
          </a:prstGeom>
          <a:solidFill>
            <a:srgbClr val="E9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8048" y="1595628"/>
            <a:ext cx="932688" cy="9326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FFFFFF"/>
                </a:solidFill>
                <a:latin typeface="Noto Sans CJK SC" panose="020B0500000000000000" charset="-122"/>
              </a:rPr>
              <a:t>LR</a:t>
            </a:r>
            <a:endParaRPr sz="20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9994392" y="2578608"/>
            <a:ext cx="0" cy="640080"/>
          </a:xfrm>
          <a:prstGeom prst="line">
            <a:avLst/>
          </a:prstGeom>
          <a:ln w="25400">
            <a:solidFill>
              <a:srgbClr val="7590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own Arrow 9"/>
          <p:cNvSpPr/>
          <p:nvPr/>
        </p:nvSpPr>
        <p:spPr>
          <a:xfrm>
            <a:off x="9765792" y="2990088"/>
            <a:ext cx="457200" cy="502920"/>
          </a:xfrm>
          <a:prstGeom prst="downArrow">
            <a:avLst/>
          </a:prstGeom>
          <a:solidFill>
            <a:srgbClr val="759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27464" y="3547872"/>
            <a:ext cx="1133856" cy="1133856"/>
          </a:xfrm>
          <a:prstGeom prst="ellipse">
            <a:avLst/>
          </a:prstGeom>
          <a:solidFill>
            <a:srgbClr val="0F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27464" y="3543300"/>
            <a:ext cx="1133856" cy="11338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Noto Sans CJK SC" panose="020B0500000000000000" charset="-122"/>
              </a:rPr>
              <a:t>B&amp;B</a:t>
            </a:r>
            <a:endParaRPr sz="18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52560" y="2670048"/>
            <a:ext cx="1874519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B7C6D9"/>
                </a:solidFill>
                <a:latin typeface="Noto Sans CJK SC" panose="020B0500000000000000" charset="-122"/>
              </a:rPr>
              <a:t>近似下界</a:t>
            </a:r>
            <a:endParaRPr sz="1100" b="0">
              <a:solidFill>
                <a:srgbClr val="B7C6D9"/>
              </a:solidFill>
              <a:latin typeface="Noto Sans CJK SC" panose="020B05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897112" y="4800600"/>
            <a:ext cx="2212848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B7C6D9"/>
                </a:solidFill>
                <a:latin typeface="Noto Sans CJK SC" panose="020B0500000000000000" charset="-122"/>
              </a:rPr>
              <a:t>可行解 + 最优性证明</a:t>
            </a:r>
            <a:endParaRPr sz="1100" b="0">
              <a:solidFill>
                <a:srgbClr val="B7C6D9"/>
              </a:solidFill>
              <a:latin typeface="Noto Sans CJK SC" panose="020B05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3816" y="6208776"/>
            <a:ext cx="36576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90A4BF"/>
                </a:solidFill>
                <a:latin typeface="Noto Sans CJK SC" panose="020B0500000000000000" charset="-122"/>
              </a:rPr>
              <a:t>UC-BnB-LLM · 2026.09</a:t>
            </a:r>
            <a:endParaRPr sz="1000" b="0">
              <a:solidFill>
                <a:srgbClr val="90A4BF"/>
              </a:solidFill>
              <a:latin typeface="Noto Sans CJK SC" panose="020B05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83464"/>
            <a:ext cx="512064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9D99"/>
                </a:solidFill>
                <a:latin typeface="Noto Sans CJK SC" panose="020B0500000000000000" charset="-122"/>
              </a:rPr>
              <a:t>01 · MOTIVATION</a:t>
            </a:r>
            <a:endParaRPr sz="1000" b="1">
              <a:solidFill>
                <a:srgbClr val="0F9D99"/>
              </a:solidFill>
              <a:latin typeface="Noto Sans CJK SC" panose="020B05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610995" cy="5080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223E"/>
                </a:solidFill>
                <a:latin typeface="Noto Sans CJK SC" panose="020B0500000000000000" charset="-122"/>
              </a:rPr>
              <a:t>LR </a:t>
            </a:r>
            <a:r>
              <a:rPr lang="zh-CN" sz="2700" b="1">
                <a:solidFill>
                  <a:srgbClr val="10223E"/>
                </a:solidFill>
                <a:latin typeface="Noto Sans CJK SC" panose="020B0500000000000000" charset="-122"/>
              </a:rPr>
              <a:t>的</a:t>
            </a:r>
            <a:r>
              <a:rPr sz="2700" b="1">
                <a:solidFill>
                  <a:srgbClr val="10223E"/>
                </a:solidFill>
                <a:latin typeface="Noto Sans CJK SC" panose="020B0500000000000000" charset="-122"/>
              </a:rPr>
              <a:t>瓶颈</a:t>
            </a:r>
            <a:endParaRPr sz="27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58368" y="1143000"/>
            <a:ext cx="10881360" cy="0"/>
          </a:xfrm>
          <a:prstGeom prst="line">
            <a:avLst/>
          </a:prstGeom>
          <a:ln w="1270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310896"/>
            <a:ext cx="2743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67085"/>
                </a:solidFill>
                <a:latin typeface="Noto Sans CJK SC" panose="020B0500000000000000" charset="-122"/>
              </a:rPr>
              <a:t>02</a:t>
            </a:r>
            <a:endParaRPr sz="9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4944" y="1325880"/>
            <a:ext cx="6654800" cy="34671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0223E"/>
                </a:solidFill>
                <a:latin typeface="Noto Sans CJK SC" panose="020B0500000000000000" charset="-122"/>
              </a:rPr>
              <a:t>LR 的吸引力：把跨机组耦合约束定价，将大问题拆成多个单机问题。</a:t>
            </a:r>
            <a:endParaRPr sz="17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847088"/>
            <a:ext cx="2212848" cy="1170432"/>
          </a:xfrm>
          <a:prstGeom prst="roundRect">
            <a:avLst>
              <a:gd name="adj" fmla="val 8000"/>
            </a:avLst>
          </a:prstGeom>
          <a:solidFill>
            <a:srgbClr val="EAF0FC"/>
          </a:solidFill>
          <a:ln w="12700">
            <a:solidFill>
              <a:srgbClr val="356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6968" y="1993392"/>
            <a:ext cx="310896" cy="310896"/>
          </a:xfrm>
          <a:prstGeom prst="ellipse">
            <a:avLst/>
          </a:prstGeom>
          <a:solidFill>
            <a:srgbClr val="356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88820"/>
            <a:ext cx="310896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 panose="020B0500000000000000" charset="-122"/>
              </a:rPr>
              <a:t>1</a:t>
            </a:r>
            <a:endParaRPr sz="11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98448" y="1947672"/>
            <a:ext cx="1481328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0223E"/>
                </a:solidFill>
                <a:latin typeface="Noto Sans CJK SC" panose="020B0500000000000000" charset="-122"/>
              </a:rPr>
              <a:t>原始 UC</a:t>
            </a:r>
            <a:endParaRPr sz="15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2340864"/>
            <a:ext cx="1847088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667085"/>
                </a:solidFill>
                <a:latin typeface="Noto Sans CJK SC" panose="020B0500000000000000" charset="-122"/>
              </a:rPr>
              <a:t>负荷 / 备用
耦合所有机组</a:t>
            </a:r>
            <a:endParaRPr sz="12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3063239" y="2240280"/>
            <a:ext cx="420624" cy="384048"/>
          </a:xfrm>
          <a:prstGeom prst="chevron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47872" y="1847088"/>
            <a:ext cx="2212848" cy="1170432"/>
          </a:xfrm>
          <a:prstGeom prst="roundRect">
            <a:avLst>
              <a:gd name="adj" fmla="val 8000"/>
            </a:avLst>
          </a:prstGeom>
          <a:solidFill>
            <a:srgbClr val="FCF2DF"/>
          </a:solidFill>
          <a:ln w="12700">
            <a:solidFill>
              <a:srgbClr val="E9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03320" y="1993392"/>
            <a:ext cx="310896" cy="310896"/>
          </a:xfrm>
          <a:prstGeom prst="ellipse">
            <a:avLst/>
          </a:prstGeom>
          <a:solidFill>
            <a:srgbClr val="E9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1988820"/>
            <a:ext cx="310896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 panose="020B0500000000000000" charset="-122"/>
              </a:rPr>
              <a:t>2</a:t>
            </a:r>
            <a:endParaRPr sz="11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0" y="1947672"/>
            <a:ext cx="1481328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0223E"/>
                </a:solidFill>
                <a:latin typeface="Noto Sans CJK SC" panose="020B0500000000000000" charset="-122"/>
              </a:rPr>
              <a:t>松弛耦合约束</a:t>
            </a:r>
            <a:endParaRPr sz="15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30752" y="2340864"/>
            <a:ext cx="1847088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667085"/>
                </a:solidFill>
                <a:latin typeface="Noto Sans CJK SC" panose="020B0500000000000000" charset="-122"/>
              </a:rPr>
              <a:t>乘子把违约
转成价格</a:t>
            </a:r>
            <a:endParaRPr sz="12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sp>
        <p:nvSpPr>
          <p:cNvPr id="18" name="Chevron 17"/>
          <p:cNvSpPr/>
          <p:nvPr/>
        </p:nvSpPr>
        <p:spPr>
          <a:xfrm>
            <a:off x="5879592" y="2240280"/>
            <a:ext cx="420624" cy="384048"/>
          </a:xfrm>
          <a:prstGeom prst="chevron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64224" y="1847088"/>
            <a:ext cx="2212848" cy="1170432"/>
          </a:xfrm>
          <a:prstGeom prst="roundRect">
            <a:avLst>
              <a:gd name="adj" fmla="val 8000"/>
            </a:avLst>
          </a:prstGeom>
          <a:solidFill>
            <a:srgbClr val="E6F5F3"/>
          </a:solidFill>
          <a:ln w="12700">
            <a:solidFill>
              <a:srgbClr val="0F9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19672" y="1993392"/>
            <a:ext cx="310896" cy="310896"/>
          </a:xfrm>
          <a:prstGeom prst="ellipse">
            <a:avLst/>
          </a:prstGeom>
          <a:solidFill>
            <a:srgbClr val="0F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1988820"/>
            <a:ext cx="310896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 panose="020B0500000000000000" charset="-122"/>
              </a:rPr>
              <a:t>3</a:t>
            </a:r>
            <a:endParaRPr sz="11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31152" y="1947672"/>
            <a:ext cx="1481328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0223E"/>
                </a:solidFill>
                <a:latin typeface="Noto Sans CJK SC" panose="020B0500000000000000" charset="-122"/>
              </a:rPr>
              <a:t>单机子问题</a:t>
            </a:r>
            <a:endParaRPr sz="15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47104" y="2340864"/>
            <a:ext cx="1847088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667085"/>
                </a:solidFill>
                <a:latin typeface="Noto Sans CJK SC" panose="020B0500000000000000" charset="-122"/>
              </a:rPr>
              <a:t>可并行、结构清晰</a:t>
            </a:r>
            <a:endParaRPr sz="12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sp>
        <p:nvSpPr>
          <p:cNvPr id="24" name="Chevron 23"/>
          <p:cNvSpPr/>
          <p:nvPr/>
        </p:nvSpPr>
        <p:spPr>
          <a:xfrm>
            <a:off x="8695944" y="2240280"/>
            <a:ext cx="420624" cy="384048"/>
          </a:xfrm>
          <a:prstGeom prst="chevron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0576" y="1847088"/>
            <a:ext cx="2212848" cy="1170432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 w="12700">
            <a:solidFill>
              <a:srgbClr val="D7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36024" y="1993392"/>
            <a:ext cx="310896" cy="310896"/>
          </a:xfrm>
          <a:prstGeom prst="ellipse">
            <a:avLst/>
          </a:prstGeom>
          <a:solidFill>
            <a:srgbClr val="D7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36024" y="1988820"/>
            <a:ext cx="310896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 panose="020B0500000000000000" charset="-122"/>
              </a:rPr>
              <a:t>4</a:t>
            </a:r>
            <a:endParaRPr sz="11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747503" y="1947672"/>
            <a:ext cx="1481328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0223E"/>
                </a:solidFill>
                <a:latin typeface="Noto Sans CJK SC" panose="020B0500000000000000" charset="-122"/>
              </a:rPr>
              <a:t>恢复可行计划</a:t>
            </a:r>
            <a:endParaRPr sz="15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363455" y="2340864"/>
            <a:ext cx="1847088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667085"/>
                </a:solidFill>
                <a:latin typeface="Noto Sans CJK SC" panose="020B0500000000000000" charset="-122"/>
              </a:rPr>
              <a:t>修复供需与
运行限制</a:t>
            </a:r>
            <a:endParaRPr sz="12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31520" y="3401568"/>
            <a:ext cx="523036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3639312"/>
            <a:ext cx="182880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F9D99"/>
                </a:solidFill>
                <a:latin typeface="Noto Sans CJK SC" panose="020B0500000000000000" charset="-122"/>
              </a:rPr>
              <a:t>它解决了什么</a:t>
            </a:r>
            <a:endParaRPr sz="1700" b="1">
              <a:solidFill>
                <a:srgbClr val="0F9D99"/>
              </a:solidFill>
              <a:latin typeface="Noto Sans CJK SC" panose="020B0500000000000000" charset="-122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987552" y="4160520"/>
            <a:ext cx="109728" cy="109728"/>
          </a:xfrm>
          <a:prstGeom prst="ellipse">
            <a:avLst/>
          </a:prstGeom>
          <a:solidFill>
            <a:srgbClr val="0F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4155948"/>
            <a:ext cx="10972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endParaRPr sz="1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97864" y="4078224"/>
            <a:ext cx="4270248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F2D3D"/>
                </a:solidFill>
                <a:latin typeface="Noto Sans CJK SC" panose="020B0500000000000000" charset="-122"/>
              </a:rPr>
              <a:t>降低单次迭代的计算难度</a:t>
            </a:r>
            <a:endParaRPr sz="16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987552" y="4636008"/>
            <a:ext cx="109728" cy="109728"/>
          </a:xfrm>
          <a:prstGeom prst="ellipse">
            <a:avLst/>
          </a:prstGeom>
          <a:solidFill>
            <a:srgbClr val="0F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4631436"/>
            <a:ext cx="10972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endParaRPr sz="1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97864" y="4553712"/>
            <a:ext cx="4270248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F2D3D"/>
                </a:solidFill>
                <a:latin typeface="Noto Sans CJK SC" panose="020B0500000000000000" charset="-122"/>
              </a:rPr>
              <a:t>自然利用机组可分解结构</a:t>
            </a:r>
            <a:endParaRPr sz="16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987552" y="5111496"/>
            <a:ext cx="109728" cy="109728"/>
          </a:xfrm>
          <a:prstGeom prst="ellipse">
            <a:avLst/>
          </a:prstGeom>
          <a:solidFill>
            <a:srgbClr val="0F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" y="5106924"/>
            <a:ext cx="10972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endParaRPr sz="1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97864" y="5029200"/>
            <a:ext cx="4270248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F2D3D"/>
                </a:solidFill>
                <a:latin typeface="Noto Sans CJK SC" panose="020B0500000000000000" charset="-122"/>
              </a:rPr>
              <a:t>快速提供下界与调度启发</a:t>
            </a:r>
            <a:endParaRPr sz="16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190488" y="3401568"/>
            <a:ext cx="5084064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28232" y="3639312"/>
            <a:ext cx="228600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D75B5B"/>
                </a:solidFill>
                <a:latin typeface="Noto Sans CJK SC" panose="020B0500000000000000" charset="-122"/>
              </a:rPr>
              <a:t>它没有自动解决什么</a:t>
            </a:r>
            <a:endParaRPr sz="1700" b="1">
              <a:solidFill>
                <a:srgbClr val="D75B5B"/>
              </a:solidFill>
              <a:latin typeface="Noto Sans CJK SC" panose="020B0500000000000000" charset="-122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6446520" y="4160520"/>
            <a:ext cx="109728" cy="109728"/>
          </a:xfrm>
          <a:prstGeom prst="ellipse">
            <a:avLst/>
          </a:prstGeom>
          <a:solidFill>
            <a:srgbClr val="D7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4155948"/>
            <a:ext cx="10972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endParaRPr sz="1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56832" y="4078224"/>
            <a:ext cx="4224527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F2D3D"/>
                </a:solidFill>
                <a:latin typeface="Noto Sans CJK SC" panose="020B0500000000000000" charset="-122"/>
              </a:rPr>
              <a:t>对偶解不一定是合法 UC 计划</a:t>
            </a:r>
            <a:endParaRPr sz="16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6446520" y="4636008"/>
            <a:ext cx="109728" cy="109728"/>
          </a:xfrm>
          <a:prstGeom prst="ellipse">
            <a:avLst/>
          </a:prstGeom>
          <a:solidFill>
            <a:srgbClr val="D7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4631436"/>
            <a:ext cx="10972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endParaRPr sz="1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656832" y="4553712"/>
            <a:ext cx="4224527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F2D3D"/>
                </a:solidFill>
                <a:latin typeface="Noto Sans CJK SC" panose="020B0500000000000000" charset="-122"/>
              </a:rPr>
              <a:t>仍需乘子更新与原问题恢复</a:t>
            </a:r>
            <a:endParaRPr sz="16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6446520" y="5111496"/>
            <a:ext cx="109728" cy="109728"/>
          </a:xfrm>
          <a:prstGeom prst="ellipse">
            <a:avLst/>
          </a:prstGeom>
          <a:solidFill>
            <a:srgbClr val="D7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5106924"/>
            <a:ext cx="10972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endParaRPr sz="1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656832" y="5029200"/>
            <a:ext cx="4224527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F2D3D"/>
                </a:solidFill>
                <a:latin typeface="Noto Sans CJK SC" panose="020B0500000000000000" charset="-122"/>
              </a:rPr>
              <a:t>不能天然给出全局最优证明</a:t>
            </a:r>
            <a:endParaRPr sz="16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cxnSp>
        <p:nvCxnSpPr>
          <p:cNvPr id="52" name="Connector 51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1016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83464"/>
            <a:ext cx="512064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9D99"/>
                </a:solidFill>
                <a:latin typeface="Noto Sans CJK SC" panose="020B0500000000000000" charset="-122"/>
              </a:rPr>
              <a:t>02 · PROBLEM</a:t>
            </a:r>
            <a:endParaRPr sz="1000" b="1">
              <a:solidFill>
                <a:srgbClr val="0F9D99"/>
              </a:solidFill>
              <a:latin typeface="Noto Sans CJK SC" panose="020B05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8136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223E"/>
                </a:solidFill>
                <a:latin typeface="Noto Sans CJK SC" panose="020B0500000000000000" charset="-122"/>
              </a:rPr>
              <a:t>LR 路线的核心困境：规模放大后，经验不再稳定</a:t>
            </a:r>
            <a:endParaRPr sz="27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58368" y="1143000"/>
            <a:ext cx="10881360" cy="0"/>
          </a:xfrm>
          <a:prstGeom prst="line">
            <a:avLst/>
          </a:prstGeom>
          <a:ln w="1270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310896"/>
            <a:ext cx="2743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67085"/>
                </a:solidFill>
                <a:latin typeface="Noto Sans CJK SC" panose="020B0500000000000000" charset="-122"/>
              </a:rPr>
              <a:t>03</a:t>
            </a:r>
            <a:endParaRPr sz="9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1353312"/>
            <a:ext cx="118872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9D99"/>
                </a:solidFill>
                <a:latin typeface="Noto Sans CJK SC" panose="020B0500000000000000" charset="-122"/>
              </a:rPr>
              <a:t>项目观察</a:t>
            </a:r>
            <a:endParaRPr sz="1200" b="1">
              <a:solidFill>
                <a:srgbClr val="0F9D99"/>
              </a:solidFill>
              <a:latin typeface="Noto Sans CJK SC" panose="020B05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1627632"/>
            <a:ext cx="4846320" cy="40233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0223E"/>
                </a:solidFill>
                <a:latin typeface="Noto Sans CJK SC" panose="020B0500000000000000" charset="-122"/>
              </a:rPr>
              <a:t>小规模有效 ≠ 大规模仍有效</a:t>
            </a:r>
            <a:endParaRPr sz="22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1115568" y="2834640"/>
            <a:ext cx="4462272" cy="0"/>
          </a:xfrm>
          <a:prstGeom prst="line">
            <a:avLst/>
          </a:prstGeom>
          <a:ln w="5080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05840" y="2587752"/>
            <a:ext cx="502920" cy="502920"/>
          </a:xfrm>
          <a:prstGeom prst="ellipse">
            <a:avLst/>
          </a:prstGeom>
          <a:solidFill>
            <a:srgbClr val="0F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83180"/>
            <a:ext cx="5029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endParaRPr sz="1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3232" y="3200400"/>
            <a:ext cx="109728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F9D99"/>
                </a:solidFill>
                <a:latin typeface="Noto Sans CJK SC" panose="020B0500000000000000" charset="-122"/>
              </a:rPr>
              <a:t>50 台</a:t>
            </a:r>
            <a:endParaRPr sz="1700" b="1">
              <a:solidFill>
                <a:srgbClr val="0F9D99"/>
              </a:solidFill>
              <a:latin typeface="Noto Sans CJK SC" panose="020B05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3547872"/>
            <a:ext cx="1325880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667085"/>
                </a:solidFill>
                <a:latin typeface="Noto Sans CJK SC" panose="020B0500000000000000" charset="-122"/>
              </a:rPr>
              <a:t>规律明显</a:t>
            </a:r>
            <a:endParaRPr sz="11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3063240" y="2587752"/>
            <a:ext cx="502920" cy="502920"/>
          </a:xfrm>
          <a:prstGeom prst="ellipse">
            <a:avLst/>
          </a:prstGeom>
          <a:solidFill>
            <a:srgbClr val="E9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2583180"/>
            <a:ext cx="5029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endParaRPr sz="1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70632" y="3200400"/>
            <a:ext cx="109728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E9A23B"/>
                </a:solidFill>
                <a:latin typeface="Noto Sans CJK SC" panose="020B0500000000000000" charset="-122"/>
              </a:rPr>
              <a:t>200 台</a:t>
            </a:r>
            <a:endParaRPr sz="1700" b="1">
              <a:solidFill>
                <a:srgbClr val="E9A23B"/>
              </a:solidFill>
              <a:latin typeface="Noto Sans CJK SC" panose="020B05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51760" y="3547872"/>
            <a:ext cx="1325880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667085"/>
                </a:solidFill>
                <a:latin typeface="Noto Sans CJK SC" panose="020B0500000000000000" charset="-122"/>
              </a:rPr>
              <a:t>效果波动</a:t>
            </a:r>
            <a:endParaRPr sz="11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074920" y="2587752"/>
            <a:ext cx="502920" cy="502920"/>
          </a:xfrm>
          <a:prstGeom prst="ellipse">
            <a:avLst/>
          </a:prstGeom>
          <a:solidFill>
            <a:srgbClr val="D7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2583180"/>
            <a:ext cx="5029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endParaRPr sz="1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782312" y="3200400"/>
            <a:ext cx="109728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D75B5B"/>
                </a:solidFill>
                <a:latin typeface="Noto Sans CJK SC" panose="020B0500000000000000" charset="-122"/>
              </a:rPr>
              <a:t>500 台</a:t>
            </a:r>
            <a:endParaRPr sz="1700" b="1">
              <a:solidFill>
                <a:srgbClr val="D75B5B"/>
              </a:solidFill>
              <a:latin typeface="Noto Sans CJK SC" panose="020B05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63440" y="3547872"/>
            <a:ext cx="1325880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667085"/>
                </a:solidFill>
                <a:latin typeface="Noto Sans CJK SC" panose="020B0500000000000000" charset="-122"/>
              </a:rPr>
              <a:t>可能失效</a:t>
            </a:r>
            <a:endParaRPr sz="11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09344" y="2322576"/>
            <a:ext cx="33832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667085"/>
                </a:solidFill>
                <a:latin typeface="Noto Sans CJK SC" panose="020B0500000000000000" charset="-122"/>
              </a:rPr>
              <a:t>同一套乘子更新 / 修复规则</a:t>
            </a:r>
            <a:endParaRPr sz="11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49808" y="4169663"/>
            <a:ext cx="4983480" cy="1298448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 w="12700">
            <a:solidFill>
              <a:srgbClr val="D7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5497" y="4599813"/>
            <a:ext cx="4390390" cy="34671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D75B5B"/>
                </a:solidFill>
                <a:latin typeface="Noto Sans CJK SC" panose="020B0500000000000000" charset="-122"/>
              </a:rPr>
              <a:t>结果：难以区分规律失效还是恢复与调参失效</a:t>
            </a:r>
            <a:endParaRPr sz="1700" b="1">
              <a:solidFill>
                <a:srgbClr val="D75B5B"/>
              </a:solidFill>
              <a:latin typeface="Noto Sans CJK SC" panose="020B05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53912" y="1417320"/>
            <a:ext cx="2313432" cy="1719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636776"/>
            <a:ext cx="1874519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0223E"/>
                </a:solidFill>
                <a:latin typeface="Noto Sans CJK SC" panose="020B0500000000000000" charset="-122"/>
              </a:rPr>
              <a:t>对偶间隙</a:t>
            </a:r>
            <a:endParaRPr sz="16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6355080" y="2029968"/>
            <a:ext cx="548640" cy="0"/>
          </a:xfrm>
          <a:prstGeom prst="line">
            <a:avLst/>
          </a:prstGeom>
          <a:ln w="38100">
            <a:solidFill>
              <a:srgbClr val="E9A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55080" y="2185416"/>
            <a:ext cx="1883664" cy="6583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667085"/>
                </a:solidFill>
                <a:latin typeface="Noto Sans CJK SC" panose="020B0500000000000000" charset="-122"/>
              </a:rPr>
              <a:t>下界与合法计划之间
可能长期留有距离</a:t>
            </a:r>
            <a:endParaRPr sz="13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851392" y="1417320"/>
            <a:ext cx="2313432" cy="1719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1636776"/>
            <a:ext cx="1874519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0223E"/>
                </a:solidFill>
                <a:latin typeface="Noto Sans CJK SC" panose="020B0500000000000000" charset="-122"/>
              </a:rPr>
              <a:t>原问题恢复</a:t>
            </a:r>
            <a:endParaRPr sz="16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9052560" y="2029968"/>
            <a:ext cx="548640" cy="0"/>
          </a:xfrm>
          <a:prstGeom prst="line">
            <a:avLst/>
          </a:prstGeom>
          <a:ln w="38100">
            <a:solidFill>
              <a:srgbClr val="E9A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052560" y="2185416"/>
            <a:ext cx="1883664" cy="6583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667085"/>
                </a:solidFill>
                <a:latin typeface="Noto Sans CJK SC" panose="020B0500000000000000" charset="-122"/>
              </a:rPr>
              <a:t>便宜的对偶安排
不一定满足供需</a:t>
            </a:r>
            <a:endParaRPr sz="13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153912" y="3703320"/>
            <a:ext cx="2313432" cy="1719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922776"/>
            <a:ext cx="1874519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0223E"/>
                </a:solidFill>
                <a:latin typeface="Noto Sans CJK SC" panose="020B0500000000000000" charset="-122"/>
              </a:rPr>
              <a:t>参数敏感</a:t>
            </a:r>
            <a:endParaRPr sz="16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6355080" y="4315968"/>
            <a:ext cx="548640" cy="0"/>
          </a:xfrm>
          <a:prstGeom prst="line">
            <a:avLst/>
          </a:prstGeom>
          <a:ln w="38100">
            <a:solidFill>
              <a:srgbClr val="E9A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355080" y="4471416"/>
            <a:ext cx="1883664" cy="6583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667085"/>
                </a:solidFill>
                <a:latin typeface="Noto Sans CJK SC" panose="020B0500000000000000" charset="-122"/>
              </a:rPr>
              <a:t>步长、乘子和修复
随实例变化</a:t>
            </a:r>
            <a:endParaRPr sz="13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851392" y="3703320"/>
            <a:ext cx="2313432" cy="1719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3922776"/>
            <a:ext cx="1874519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0223E"/>
                </a:solidFill>
                <a:latin typeface="Noto Sans CJK SC" panose="020B0500000000000000" charset="-122"/>
              </a:rPr>
              <a:t>难以归因</a:t>
            </a:r>
            <a:endParaRPr sz="16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9052560" y="4315968"/>
            <a:ext cx="548640" cy="0"/>
          </a:xfrm>
          <a:prstGeom prst="line">
            <a:avLst/>
          </a:prstGeom>
          <a:ln w="38100">
            <a:solidFill>
              <a:srgbClr val="E9A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052560" y="4471416"/>
            <a:ext cx="1883664" cy="6583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667085"/>
                </a:solidFill>
                <a:latin typeface="Noto Sans CJK SC" panose="020B0500000000000000" charset="-122"/>
              </a:rPr>
              <a:t>性能变化来自算法、
恢复还是数据？</a:t>
            </a:r>
            <a:endParaRPr sz="13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1016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83464"/>
            <a:ext cx="512064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9D99"/>
                </a:solidFill>
                <a:latin typeface="Noto Sans CJK SC" panose="020B0500000000000000" charset="-122"/>
              </a:rPr>
              <a:t>03 · DECISION</a:t>
            </a:r>
            <a:endParaRPr sz="1000" b="1">
              <a:solidFill>
                <a:srgbClr val="0F9D99"/>
              </a:solidFill>
              <a:latin typeface="Noto Sans CJK SC" panose="020B05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2129790" cy="5080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223E"/>
                </a:solidFill>
                <a:latin typeface="Noto Sans CJK SC" panose="020B0500000000000000" charset="-122"/>
              </a:rPr>
              <a:t>转向分支定界</a:t>
            </a:r>
            <a:endParaRPr sz="27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58368" y="1143000"/>
            <a:ext cx="10881360" cy="0"/>
          </a:xfrm>
          <a:prstGeom prst="line">
            <a:avLst/>
          </a:prstGeom>
          <a:ln w="1270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310896"/>
            <a:ext cx="2743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67085"/>
                </a:solidFill>
                <a:latin typeface="Noto Sans CJK SC" panose="020B0500000000000000" charset="-122"/>
              </a:rPr>
              <a:t>04</a:t>
            </a:r>
            <a:endParaRPr sz="9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49808" y="1426464"/>
            <a:ext cx="4617720" cy="45354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700784"/>
            <a:ext cx="246888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0223E"/>
                </a:solidFill>
                <a:latin typeface="Noto Sans CJK SC" panose="020B0500000000000000" charset="-122"/>
              </a:rPr>
              <a:t>分支定界的最小逻辑</a:t>
            </a:r>
            <a:endParaRPr sz="17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2724912" y="2212848"/>
            <a:ext cx="585216" cy="585216"/>
          </a:xfrm>
          <a:prstGeom prst="ellipse">
            <a:avLst/>
          </a:prstGeom>
          <a:solidFill>
            <a:srgbClr val="356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24912" y="2208276"/>
            <a:ext cx="585216" cy="5852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Noto Sans CJK SC" panose="020B0500000000000000" charset="-122"/>
              </a:rPr>
              <a:t>LP</a:t>
            </a:r>
            <a:endParaRPr sz="14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 flipH="1">
            <a:off x="1965960" y="2798064"/>
            <a:ext cx="1051560" cy="603504"/>
          </a:xfrm>
          <a:prstGeom prst="line">
            <a:avLst/>
          </a:prstGeom>
          <a:ln w="25400">
            <a:solidFill>
              <a:srgbClr val="356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017520" y="2798064"/>
            <a:ext cx="1051560" cy="603504"/>
          </a:xfrm>
          <a:prstGeom prst="line">
            <a:avLst/>
          </a:prstGeom>
          <a:ln w="25400">
            <a:solidFill>
              <a:srgbClr val="356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682496" y="3310128"/>
            <a:ext cx="566928" cy="566928"/>
          </a:xfrm>
          <a:prstGeom prst="ellipse">
            <a:avLst/>
          </a:prstGeom>
          <a:solidFill>
            <a:srgbClr val="0F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82496" y="3305556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Noto Sans CJK SC" panose="020B0500000000000000" charset="-122"/>
              </a:rPr>
              <a:t>0</a:t>
            </a:r>
            <a:endParaRPr sz="15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785615" y="3310128"/>
            <a:ext cx="566928" cy="566928"/>
          </a:xfrm>
          <a:prstGeom prst="ellipse">
            <a:avLst/>
          </a:prstGeom>
          <a:solidFill>
            <a:srgbClr val="0F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5" y="3305556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Noto Sans CJK SC" panose="020B0500000000000000" charset="-122"/>
              </a:rPr>
              <a:t>1</a:t>
            </a:r>
            <a:endParaRPr sz="15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 flipH="1">
            <a:off x="1353312" y="3877056"/>
            <a:ext cx="612648" cy="548640"/>
          </a:xfrm>
          <a:prstGeom prst="line">
            <a:avLst/>
          </a:prstGeom>
          <a:ln w="19050">
            <a:solidFill>
              <a:srgbClr val="8CA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965960" y="3877056"/>
            <a:ext cx="521208" cy="548640"/>
          </a:xfrm>
          <a:prstGeom prst="line">
            <a:avLst/>
          </a:prstGeom>
          <a:ln w="19050">
            <a:solidFill>
              <a:srgbClr val="8CA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547872" y="3877056"/>
            <a:ext cx="521208" cy="548640"/>
          </a:xfrm>
          <a:prstGeom prst="line">
            <a:avLst/>
          </a:prstGeom>
          <a:ln w="19050">
            <a:solidFill>
              <a:srgbClr val="8CA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69080" y="3877056"/>
            <a:ext cx="576072" cy="548640"/>
          </a:xfrm>
          <a:prstGeom prst="line">
            <a:avLst/>
          </a:prstGeom>
          <a:ln w="19050">
            <a:solidFill>
              <a:srgbClr val="8CA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161288" y="4343400"/>
            <a:ext cx="365760" cy="365760"/>
          </a:xfrm>
          <a:prstGeom prst="ellipse">
            <a:avLst/>
          </a:prstGeom>
          <a:solidFill>
            <a:srgbClr val="8CA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61288" y="4338828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endParaRPr sz="1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2295144" y="4343400"/>
            <a:ext cx="365760" cy="365760"/>
          </a:xfrm>
          <a:prstGeom prst="ellipse">
            <a:avLst/>
          </a:prstGeom>
          <a:solidFill>
            <a:srgbClr val="8CA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95144" y="4338828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endParaRPr sz="1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3355848" y="4343400"/>
            <a:ext cx="365760" cy="365760"/>
          </a:xfrm>
          <a:prstGeom prst="ellipse">
            <a:avLst/>
          </a:prstGeom>
          <a:solidFill>
            <a:srgbClr val="8CA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55848" y="4338828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endParaRPr sz="1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453128" y="4343400"/>
            <a:ext cx="365760" cy="365760"/>
          </a:xfrm>
          <a:prstGeom prst="ellipse">
            <a:avLst/>
          </a:prstGeom>
          <a:solidFill>
            <a:srgbClr val="8CA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8" y="4338828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endParaRPr sz="1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52144" y="5047488"/>
            <a:ext cx="3822191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10223E"/>
                </a:solidFill>
                <a:latin typeface="Noto Sans CJK SC" panose="020B0500000000000000" charset="-122"/>
              </a:rPr>
              <a:t>分支：把一个小数开关拆成 0 / 1</a:t>
            </a:r>
            <a:endParaRPr sz="14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2415" y="5422392"/>
            <a:ext cx="4041648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667085"/>
                </a:solidFill>
                <a:latin typeface="Noto Sans CJK SC" panose="020B0500000000000000" charset="-122"/>
              </a:rPr>
              <a:t>定界：用下界批量排除不可能更优的子树</a:t>
            </a:r>
            <a:endParaRPr sz="13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742432" y="1426464"/>
            <a:ext cx="347472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0223E"/>
                </a:solidFill>
                <a:latin typeface="Noto Sans CJK SC" panose="020B0500000000000000" charset="-122"/>
              </a:rPr>
              <a:t>为什么更符合当前目标</a:t>
            </a:r>
            <a:endParaRPr sz="18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742432" y="1874519"/>
            <a:ext cx="1417320" cy="438912"/>
          </a:xfrm>
          <a:prstGeom prst="rect">
            <a:avLst/>
          </a:prstGeom>
          <a:solidFill>
            <a:srgbClr val="10223E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15584" y="1920239"/>
            <a:ext cx="1271016" cy="34747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Noto Sans CJK SC" panose="020B0500000000000000" charset="-122"/>
              </a:rPr>
              <a:t>输出</a:t>
            </a:r>
            <a:endParaRPr sz="13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159752" y="1874519"/>
            <a:ext cx="1874519" cy="438912"/>
          </a:xfrm>
          <a:prstGeom prst="rect">
            <a:avLst/>
          </a:prstGeom>
          <a:solidFill>
            <a:srgbClr val="10223E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32904" y="1920239"/>
            <a:ext cx="1728216" cy="34747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Noto Sans CJK SC" panose="020B0500000000000000" charset="-122"/>
              </a:rPr>
              <a:t>LR</a:t>
            </a:r>
            <a:endParaRPr sz="13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034272" y="1874519"/>
            <a:ext cx="2011680" cy="438912"/>
          </a:xfrm>
          <a:prstGeom prst="rect">
            <a:avLst/>
          </a:prstGeom>
          <a:solidFill>
            <a:srgbClr val="10223E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1920239"/>
            <a:ext cx="1865376" cy="34747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Noto Sans CJK SC" panose="020B0500000000000000" charset="-122"/>
              </a:rPr>
              <a:t>B&amp;B</a:t>
            </a:r>
            <a:endParaRPr sz="13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742432" y="2313432"/>
            <a:ext cx="1417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15584" y="2359151"/>
            <a:ext cx="1271016" cy="56692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F2D3D"/>
                </a:solidFill>
                <a:latin typeface="Noto Sans CJK SC" panose="020B0500000000000000" charset="-122"/>
              </a:rPr>
              <a:t>合法计划</a:t>
            </a:r>
            <a:endParaRPr sz="1200" b="1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159752" y="2313432"/>
            <a:ext cx="187451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32904" y="2359151"/>
            <a:ext cx="1728216" cy="56692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1F2D3D"/>
                </a:solidFill>
                <a:latin typeface="Noto Sans CJK SC" panose="020B0500000000000000" charset="-122"/>
              </a:rPr>
              <a:t>需额外恢复</a:t>
            </a:r>
            <a:endParaRPr sz="12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9034272" y="2313432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07424" y="2359151"/>
            <a:ext cx="1865376" cy="56692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1F2D3D"/>
                </a:solidFill>
                <a:latin typeface="Noto Sans CJK SC" panose="020B0500000000000000" charset="-122"/>
              </a:rPr>
              <a:t>求解器内维护</a:t>
            </a:r>
            <a:endParaRPr sz="12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742432" y="2971800"/>
            <a:ext cx="1417320" cy="658368"/>
          </a:xfrm>
          <a:prstGeom prst="rect">
            <a:avLst/>
          </a:prstGeom>
          <a:solidFill>
            <a:srgbClr val="F0F4F9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15584" y="3017520"/>
            <a:ext cx="1271016" cy="56692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F2D3D"/>
                </a:solidFill>
                <a:latin typeface="Noto Sans CJK SC" panose="020B0500000000000000" charset="-122"/>
              </a:rPr>
              <a:t>最优性</a:t>
            </a:r>
            <a:endParaRPr sz="1200" b="1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7159752" y="2971800"/>
            <a:ext cx="1874519" cy="658368"/>
          </a:xfrm>
          <a:prstGeom prst="rect">
            <a:avLst/>
          </a:prstGeom>
          <a:solidFill>
            <a:srgbClr val="F0F4F9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32904" y="3017520"/>
            <a:ext cx="1728216" cy="56692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1F2D3D"/>
                </a:solidFill>
                <a:latin typeface="Noto Sans CJK SC" panose="020B0500000000000000" charset="-122"/>
              </a:rPr>
              <a:t>通常是下界/近似</a:t>
            </a:r>
            <a:endParaRPr sz="12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9034272" y="2971800"/>
            <a:ext cx="2011680" cy="658368"/>
          </a:xfrm>
          <a:prstGeom prst="rect">
            <a:avLst/>
          </a:prstGeom>
          <a:solidFill>
            <a:srgbClr val="F0F4F9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07424" y="3017520"/>
            <a:ext cx="1865376" cy="56692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1F2D3D"/>
                </a:solidFill>
                <a:latin typeface="Noto Sans CJK SC" panose="020B0500000000000000" charset="-122"/>
              </a:rPr>
              <a:t>gap 可度量并证明</a:t>
            </a:r>
            <a:endParaRPr sz="12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742432" y="3630168"/>
            <a:ext cx="1417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15584" y="3675887"/>
            <a:ext cx="1271016" cy="56692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F2D3D"/>
                </a:solidFill>
                <a:latin typeface="Noto Sans CJK SC" panose="020B0500000000000000" charset="-122"/>
              </a:rPr>
              <a:t>比较对象</a:t>
            </a:r>
            <a:endParaRPr sz="1200" b="1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159752" y="3630168"/>
            <a:ext cx="187451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32904" y="3675887"/>
            <a:ext cx="1728216" cy="56692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1F2D3D"/>
                </a:solidFill>
                <a:latin typeface="Noto Sans CJK SC" panose="020B0500000000000000" charset="-122"/>
              </a:rPr>
              <a:t>乘子与恢复规则</a:t>
            </a:r>
            <a:endParaRPr sz="12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9034272" y="3630168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07424" y="3675887"/>
            <a:ext cx="1865376" cy="56692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1F2D3D"/>
                </a:solidFill>
                <a:latin typeface="Noto Sans CJK SC" panose="020B0500000000000000" charset="-122"/>
              </a:rPr>
              <a:t>节点、时间、gap</a:t>
            </a:r>
            <a:endParaRPr sz="12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742432" y="4288536"/>
            <a:ext cx="1417320" cy="658368"/>
          </a:xfrm>
          <a:prstGeom prst="rect">
            <a:avLst/>
          </a:prstGeom>
          <a:solidFill>
            <a:srgbClr val="F0F4F9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15584" y="4334255"/>
            <a:ext cx="1271016" cy="56692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F2D3D"/>
                </a:solidFill>
                <a:latin typeface="Noto Sans CJK SC" panose="020B0500000000000000" charset="-122"/>
              </a:rPr>
              <a:t>学习入口</a:t>
            </a:r>
            <a:endParaRPr sz="1200" b="1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7159752" y="4288536"/>
            <a:ext cx="1874519" cy="658368"/>
          </a:xfrm>
          <a:prstGeom prst="rect">
            <a:avLst/>
          </a:prstGeom>
          <a:solidFill>
            <a:srgbClr val="F0F4F9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32904" y="4334255"/>
            <a:ext cx="1728216" cy="56692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1F2D3D"/>
                </a:solidFill>
                <a:latin typeface="Noto Sans CJK SC" panose="020B0500000000000000" charset="-122"/>
              </a:rPr>
              <a:t>调乘子/启发式</a:t>
            </a:r>
            <a:endParaRPr sz="12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9034272" y="4288536"/>
            <a:ext cx="2011680" cy="658368"/>
          </a:xfrm>
          <a:prstGeom prst="rect">
            <a:avLst/>
          </a:prstGeom>
          <a:solidFill>
            <a:srgbClr val="F0F4F9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07424" y="4334255"/>
            <a:ext cx="1865376" cy="56692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1F2D3D"/>
                </a:solidFill>
                <a:latin typeface="Noto Sans CJK SC" panose="020B0500000000000000" charset="-122"/>
              </a:rPr>
              <a:t>学习分支决策</a:t>
            </a:r>
            <a:endParaRPr sz="12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cxnSp>
        <p:nvCxnSpPr>
          <p:cNvPr id="63" name="Connector 62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1016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83464"/>
            <a:ext cx="512064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9D99"/>
                </a:solidFill>
                <a:latin typeface="Noto Sans CJK SC" panose="020B0500000000000000" charset="-122"/>
              </a:rPr>
              <a:t>03 · DECISION</a:t>
            </a:r>
            <a:endParaRPr sz="1000" b="1">
              <a:solidFill>
                <a:srgbClr val="0F9D99"/>
              </a:solidFill>
              <a:latin typeface="Noto Sans CJK SC" panose="020B05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2129790" cy="5080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223E"/>
                </a:solidFill>
                <a:latin typeface="Noto Sans CJK SC" panose="020B0500000000000000" charset="-122"/>
              </a:rPr>
              <a:t>转向分支定界</a:t>
            </a:r>
            <a:endParaRPr sz="27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58368" y="1143000"/>
            <a:ext cx="10881360" cy="0"/>
          </a:xfrm>
          <a:prstGeom prst="line">
            <a:avLst/>
          </a:prstGeom>
          <a:ln w="1270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310896"/>
            <a:ext cx="2743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67085"/>
                </a:solidFill>
                <a:latin typeface="Noto Sans CJK SC" panose="020B0500000000000000" charset="-122"/>
              </a:rPr>
              <a:t>04</a:t>
            </a:r>
            <a:endParaRPr sz="9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pic>
        <p:nvPicPr>
          <p:cNvPr id="61" name="图片 60" descr="截图 2026-09-21 14-04-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820" y="1435100"/>
            <a:ext cx="5889625" cy="5130165"/>
          </a:xfrm>
          <a:prstGeom prst="rect">
            <a:avLst/>
          </a:prstGeom>
        </p:spPr>
      </p:pic>
      <p:sp>
        <p:nvSpPr>
          <p:cNvPr id="62" name="TextBox 33"/>
          <p:cNvSpPr txBox="1"/>
          <p:nvPr/>
        </p:nvSpPr>
        <p:spPr>
          <a:xfrm>
            <a:off x="6768465" y="1363345"/>
            <a:ext cx="4445000" cy="110553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p>
            <a:pPr algn="l">
              <a:lnSpc>
                <a:spcPct val="105000"/>
              </a:lnSpc>
            </a:pPr>
            <a:r>
              <a:rPr lang="en-US" altLang="zh-CN" sz="1600" b="0">
                <a:solidFill>
                  <a:srgbClr val="1F2D3D"/>
                </a:solidFill>
                <a:latin typeface="Noto Sans CJK SC" panose="020B0500000000000000" charset="-122"/>
              </a:rPr>
              <a:t>LLM4Branch</a:t>
            </a:r>
            <a:r>
              <a:rPr lang="zh-CN" altLang="en-US" sz="1600" b="0">
                <a:solidFill>
                  <a:srgbClr val="1F2D3D"/>
                </a:solidFill>
                <a:latin typeface="Noto Sans CJK SC" panose="020B0500000000000000" charset="-122"/>
              </a:rPr>
              <a:t>面向通用</a:t>
            </a:r>
            <a:r>
              <a:rPr lang="en-US" altLang="zh-CN" sz="1600" b="0">
                <a:solidFill>
                  <a:srgbClr val="1F2D3D"/>
                </a:solidFill>
                <a:latin typeface="Noto Sans CJK SC" panose="020B0500000000000000" charset="-122"/>
              </a:rPr>
              <a:t>MILP</a:t>
            </a:r>
            <a:r>
              <a:rPr lang="zh-CN" altLang="en-US" sz="1600" b="0">
                <a:solidFill>
                  <a:srgbClr val="1F2D3D"/>
                </a:solidFill>
                <a:latin typeface="Noto Sans CJK SC" panose="020B0500000000000000" charset="-122"/>
              </a:rPr>
              <a:t>的</a:t>
            </a:r>
            <a:r>
              <a:rPr lang="en-US" altLang="zh-CN" sz="1600" b="0">
                <a:solidFill>
                  <a:srgbClr val="1F2D3D"/>
                </a:solidFill>
                <a:latin typeface="Noto Sans CJK SC" panose="020B0500000000000000" charset="-122"/>
              </a:rPr>
              <a:t>Branch-and-Bound</a:t>
            </a:r>
            <a:r>
              <a:rPr lang="zh-CN" altLang="en-US" sz="1600" b="0">
                <a:solidFill>
                  <a:srgbClr val="1F2D3D"/>
                </a:solidFill>
                <a:latin typeface="Noto Sans CJK SC" panose="020B0500000000000000" charset="-122"/>
              </a:rPr>
              <a:t>，让</a:t>
            </a:r>
            <a:r>
              <a:rPr lang="en-US" altLang="zh-CN" sz="1600" b="0">
                <a:solidFill>
                  <a:srgbClr val="1F2D3D"/>
                </a:solidFill>
                <a:latin typeface="Noto Sans CJK SC" panose="020B0500000000000000" charset="-122"/>
              </a:rPr>
              <a:t>LLM</a:t>
            </a:r>
            <a:r>
              <a:rPr lang="zh-CN" altLang="en-US" sz="1600" b="0">
                <a:solidFill>
                  <a:srgbClr val="1F2D3D"/>
                </a:solidFill>
                <a:latin typeface="Noto Sans CJK SC" panose="020B0500000000000000" charset="-122"/>
              </a:rPr>
              <a:t>自动生成可执行的</a:t>
            </a:r>
            <a:r>
              <a:rPr lang="en-US" altLang="zh-CN" sz="1600" b="0">
                <a:solidFill>
                  <a:srgbClr val="1F2D3D"/>
                </a:solidFill>
                <a:latin typeface="Noto Sans CJK SC" panose="020B0500000000000000" charset="-122"/>
              </a:rPr>
              <a:t> branching program</a:t>
            </a:r>
            <a:r>
              <a:rPr lang="zh-CN" altLang="en-US" sz="1600" b="0">
                <a:solidFill>
                  <a:srgbClr val="1F2D3D"/>
                </a:solidFill>
                <a:latin typeface="Noto Sans CJK SC" panose="020B0500000000000000" charset="-122"/>
              </a:rPr>
              <a:t>，再利用求解器的端到端性能反馈优化程序参数，并通过进化搜索不断迭代规则</a:t>
            </a:r>
            <a:endParaRPr lang="zh-CN" altLang="en-US" sz="16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本框 63"/>
              <p:cNvSpPr txBox="1"/>
              <p:nvPr/>
            </p:nvSpPr>
            <p:spPr>
              <a:xfrm>
                <a:off x="6372225" y="2689225"/>
                <a:ext cx="5819140" cy="39706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algn="l">
                  <a:lnSpc>
                    <a:spcPct val="105000"/>
                  </a:lnSpc>
                  <a:buClrTx/>
                  <a:buSzTx/>
                  <a:buFontTx/>
                </a:pPr>
                <a:r>
                  <a:rPr lang="en-US" altLang="zh-CN" sz="1600">
                    <a:solidFill>
                      <a:srgbClr val="1F2D3D"/>
                    </a:solidFill>
                    <a:latin typeface="Noto Sans CJK SC" panose="020B0500000000000000" charset="-122"/>
                  </a:rPr>
                  <a:t>它最终产出可直接执行的Python分支评分程序：</a:t>
                </a:r>
                <a:endParaRPr lang="en-US" altLang="zh-CN" sz="1600">
                  <a:solidFill>
                    <a:srgbClr val="1F2D3D"/>
                  </a:solidFill>
                  <a:latin typeface="Noto Sans CJK SC" panose="020B0500000000000000" charset="-122"/>
                </a:endParaRPr>
              </a:p>
              <a:p>
                <a:pPr algn="l">
                  <a:lnSpc>
                    <a:spcPct val="105000"/>
                  </a:lnSpc>
                  <a:buClrTx/>
                  <a:buSzTx/>
                  <a:buFontTx/>
                </a:pPr>
                <a:endParaRPr lang="en-US" altLang="zh-CN" sz="1600">
                  <a:solidFill>
                    <a:srgbClr val="1F2D3D"/>
                  </a:solidFill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pPr algn="l">
                  <a:lnSpc>
                    <a:spcPct val="105000"/>
                  </a:lnSpc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>
                          <a:solidFill>
                            <a:srgbClr val="1F2D3D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s</m:t>
                      </m:r>
                      <m:r>
                        <a:rPr lang="en-US" altLang="zh-CN" sz="1600">
                          <a:solidFill>
                            <a:srgbClr val="1F2D3D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1600">
                          <a:solidFill>
                            <a:srgbClr val="1F2D3D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f</m:t>
                      </m:r>
                      <m:r>
                        <a:rPr lang="en-US" altLang="zh-CN" sz="1600">
                          <a:solidFill>
                            <a:srgbClr val="1F2D3D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1600">
                          <a:solidFill>
                            <a:srgbClr val="1F2D3D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fractionality</m:t>
                      </m:r>
                      <m:r>
                        <a:rPr lang="en-US" altLang="zh-CN" sz="1600">
                          <a:solidFill>
                            <a:srgbClr val="1F2D3D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zh-CN" sz="1600">
                          <a:solidFill>
                            <a:srgbClr val="1F2D3D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pseudocost</m:t>
                      </m:r>
                      <m:r>
                        <a:rPr lang="en-US" altLang="zh-CN" sz="1600">
                          <a:solidFill>
                            <a:srgbClr val="1F2D3D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zh-CN" sz="1600">
                          <a:solidFill>
                            <a:srgbClr val="1F2D3D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constraint</m:t>
                      </m:r>
                      <m:r>
                        <a:rPr lang="en-US" altLang="zh-CN" sz="1600">
                          <a:solidFill>
                            <a:srgbClr val="1F2D3D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600">
                          <a:solidFill>
                            <a:srgbClr val="1F2D3D"/>
                          </a:solidFill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activity</m:t>
                      </m:r>
                      <m:r>
                        <a:rPr lang="en-US" altLang="zh-CN" sz="1600">
                          <a:solidFill>
                            <a:srgbClr val="1F2D3D"/>
                          </a:solidFill>
                          <a:latin typeface="DejaVu Math TeX Gyre" panose="02000503000000000000" charset="0"/>
                          <a:ea typeface="MS Mincho" charset="0"/>
                          <a:cs typeface="DejaVu Math TeX Gyre" panose="02000503000000000000" charset="0"/>
                        </a:rPr>
                        <m:t>,…)</m:t>
                      </m:r>
                    </m:oMath>
                  </m:oMathPara>
                </a14:m>
                <a:endParaRPr lang="en-US" altLang="zh-CN" sz="1600">
                  <a:solidFill>
                    <a:srgbClr val="1F2D3D"/>
                  </a:solidFill>
                  <a:latin typeface="DejaVu Math TeX Gyre" panose="02000503000000000000" charset="0"/>
                  <a:ea typeface="MS Mincho" charset="0"/>
                  <a:cs typeface="DejaVu Math TeX Gyre" panose="02000503000000000000" charset="0"/>
                </a:endParaRPr>
              </a:p>
              <a:p>
                <a:pPr algn="l">
                  <a:lnSpc>
                    <a:spcPct val="105000"/>
                  </a:lnSpc>
                  <a:buClrTx/>
                  <a:buSzTx/>
                  <a:buFontTx/>
                </a:pPr>
                <a:endParaRPr lang="en-US" altLang="zh-CN" sz="1600">
                  <a:solidFill>
                    <a:srgbClr val="1F2D3D"/>
                  </a:solidFill>
                  <a:latin typeface="DejaVu Math TeX Gyre" panose="02000503000000000000" charset="0"/>
                  <a:ea typeface="MS Mincho" charset="0"/>
                  <a:cs typeface="DejaVu Math TeX Gyre" panose="02000503000000000000" charset="0"/>
                </a:endParaRPr>
              </a:p>
              <a:p>
                <a:pPr algn="l">
                  <a:lnSpc>
                    <a:spcPct val="105000"/>
                  </a:lnSpc>
                  <a:buClrTx/>
                  <a:buSzTx/>
                  <a:buFontTx/>
                </a:pPr>
                <a:r>
                  <a:rPr lang="zh-CN" altLang="en-US" sz="1600">
                    <a:solidFill>
                      <a:srgbClr val="1F2D3D"/>
                    </a:solidFill>
                    <a:latin typeface="DejaVu Math TeX Gyre" panose="02000503000000000000" charset="0"/>
                    <a:ea typeface="MS Mincho" charset="0"/>
                    <a:cs typeface="DejaVu Math TeX Gyre" panose="02000503000000000000" charset="0"/>
                  </a:rPr>
                  <a:t>然后对当前</a:t>
                </a:r>
                <a:r>
                  <a:rPr lang="en-US" altLang="zh-CN" sz="1600">
                    <a:solidFill>
                      <a:srgbClr val="1F2D3D"/>
                    </a:solidFill>
                    <a:latin typeface="DejaVu Math TeX Gyre" panose="02000503000000000000" charset="0"/>
                    <a:ea typeface="MS Mincho" charset="0"/>
                    <a:cs typeface="DejaVu Math TeX Gyre" panose="02000503000000000000" charset="0"/>
                  </a:rPr>
                  <a:t> fractional variables </a:t>
                </a:r>
                <a:r>
                  <a:rPr lang="zh-CN" altLang="en-US" sz="1600">
                    <a:solidFill>
                      <a:srgbClr val="1F2D3D"/>
                    </a:solidFill>
                    <a:latin typeface="DejaVu Math TeX Gyre" panose="02000503000000000000" charset="0"/>
                    <a:ea typeface="MS Mincho" charset="0"/>
                    <a:cs typeface="DejaVu Math TeX Gyre" panose="02000503000000000000" charset="0"/>
                  </a:rPr>
                  <a:t>打分，选择得分最高的变量进行</a:t>
                </a:r>
                <a:r>
                  <a:rPr lang="en-US" altLang="zh-CN" sz="1600">
                    <a:solidFill>
                      <a:srgbClr val="1F2D3D"/>
                    </a:solidFill>
                    <a:latin typeface="DejaVu Math TeX Gyre" panose="02000503000000000000" charset="0"/>
                    <a:ea typeface="MS Mincho" charset="0"/>
                    <a:cs typeface="DejaVu Math TeX Gyre" panose="02000503000000000000" charset="0"/>
                  </a:rPr>
                  <a:t>branch</a:t>
                </a:r>
                <a:r>
                  <a:rPr lang="zh-CN" altLang="en-US" sz="1600">
                    <a:solidFill>
                      <a:srgbClr val="1F2D3D"/>
                    </a:solidFill>
                    <a:latin typeface="DejaVu Math TeX Gyre" panose="02000503000000000000" charset="0"/>
                    <a:ea typeface="MS Mincho" charset="0"/>
                    <a:cs typeface="DejaVu Math TeX Gyre" panose="02000503000000000000" charset="0"/>
                  </a:rPr>
                  <a:t>。其官方代码公开了四个标准</a:t>
                </a:r>
                <a:r>
                  <a:rPr lang="en-US" altLang="zh-CN" sz="1600">
                    <a:solidFill>
                      <a:srgbClr val="1F2D3D"/>
                    </a:solidFill>
                    <a:latin typeface="DejaVu Math TeX Gyre" panose="02000503000000000000" charset="0"/>
                    <a:ea typeface="MS Mincho" charset="0"/>
                    <a:cs typeface="DejaVu Math TeX Gyre" panose="02000503000000000000" charset="0"/>
                  </a:rPr>
                  <a:t>MILP benchmark</a:t>
                </a:r>
                <a:r>
                  <a:rPr lang="zh-CN" altLang="en-US" sz="1600">
                    <a:solidFill>
                      <a:srgbClr val="1F2D3D"/>
                    </a:solidFill>
                    <a:latin typeface="DejaVu Math TeX Gyre" panose="02000503000000000000" charset="0"/>
                    <a:ea typeface="MS Mincho" charset="0"/>
                    <a:cs typeface="DejaVu Math TeX Gyre" panose="02000503000000000000" charset="0"/>
                  </a:rPr>
                  <a:t>对应的发现策略：</a:t>
                </a:r>
                <a:endParaRPr lang="zh-CN" altLang="en-US" sz="1600">
                  <a:solidFill>
                    <a:srgbClr val="1F2D3D"/>
                  </a:solidFill>
                  <a:latin typeface="DejaVu Math TeX Gyre" panose="02000503000000000000" charset="0"/>
                  <a:ea typeface="MS Mincho" charset="0"/>
                  <a:cs typeface="DejaVu Math TeX Gyre" panose="02000503000000000000" charset="0"/>
                </a:endParaRPr>
              </a:p>
              <a:p>
                <a:pPr algn="l">
                  <a:lnSpc>
                    <a:spcPct val="105000"/>
                  </a:lnSpc>
                  <a:buClrTx/>
                  <a:buSzTx/>
                  <a:buFontTx/>
                </a:pPr>
                <a:endParaRPr lang="en-US" altLang="zh-CN" sz="1600">
                  <a:solidFill>
                    <a:srgbClr val="1F2D3D"/>
                  </a:solidFill>
                  <a:latin typeface="DejaVu Math TeX Gyre" panose="02000503000000000000" charset="0"/>
                  <a:ea typeface="MS Mincho" charset="0"/>
                  <a:cs typeface="DejaVu Math TeX Gyre" panose="02000503000000000000" charset="0"/>
                </a:endParaRPr>
              </a:p>
              <a:p>
                <a:pPr algn="l">
                  <a:lnSpc>
                    <a:spcPct val="105000"/>
                  </a:lnSpc>
                  <a:buClrTx/>
                  <a:buSzTx/>
                  <a:buFontTx/>
                </a:pPr>
                <a:r>
                  <a:rPr lang="en-US" altLang="zh-CN" sz="1600">
                    <a:solidFill>
                      <a:srgbClr val="1F2D3D"/>
                    </a:solidFill>
                    <a:latin typeface="DejaVu Math TeX Gyre" panose="02000503000000000000" charset="0"/>
                    <a:ea typeface="MS Mincho" charset="0"/>
                    <a:cs typeface="DejaVu Math TeX Gyre" panose="02000503000000000000" charset="0"/>
                  </a:rPr>
                  <a:t>Set Covering</a:t>
                </a:r>
                <a:endParaRPr lang="en-US" altLang="zh-CN" sz="1600">
                  <a:solidFill>
                    <a:srgbClr val="1F2D3D"/>
                  </a:solidFill>
                  <a:latin typeface="DejaVu Math TeX Gyre" panose="02000503000000000000" charset="0"/>
                  <a:ea typeface="MS Mincho" charset="0"/>
                  <a:cs typeface="DejaVu Math TeX Gyre" panose="02000503000000000000" charset="0"/>
                </a:endParaRPr>
              </a:p>
              <a:p>
                <a:pPr algn="l">
                  <a:lnSpc>
                    <a:spcPct val="105000"/>
                  </a:lnSpc>
                  <a:buClrTx/>
                  <a:buSzTx/>
                  <a:buFontTx/>
                </a:pPr>
                <a:r>
                  <a:rPr lang="en-US" altLang="zh-CN" sz="1600">
                    <a:solidFill>
                      <a:srgbClr val="1F2D3D"/>
                    </a:solidFill>
                    <a:latin typeface="DejaVu Math TeX Gyre" panose="02000503000000000000" charset="0"/>
                    <a:ea typeface="MS Mincho" charset="0"/>
                    <a:cs typeface="DejaVu Math TeX Gyre" panose="02000503000000000000" charset="0"/>
                  </a:rPr>
                  <a:t>Combinatorial Auctions</a:t>
                </a:r>
                <a:endParaRPr lang="en-US" altLang="zh-CN" sz="1600">
                  <a:solidFill>
                    <a:srgbClr val="1F2D3D"/>
                  </a:solidFill>
                  <a:latin typeface="DejaVu Math TeX Gyre" panose="02000503000000000000" charset="0"/>
                  <a:ea typeface="MS Mincho" charset="0"/>
                  <a:cs typeface="DejaVu Math TeX Gyre" panose="02000503000000000000" charset="0"/>
                </a:endParaRPr>
              </a:p>
              <a:p>
                <a:pPr algn="l">
                  <a:lnSpc>
                    <a:spcPct val="105000"/>
                  </a:lnSpc>
                  <a:buClrTx/>
                  <a:buSzTx/>
                  <a:buFontTx/>
                </a:pPr>
                <a:r>
                  <a:rPr lang="en-US" altLang="zh-CN" sz="1600">
                    <a:solidFill>
                      <a:srgbClr val="1F2D3D"/>
                    </a:solidFill>
                    <a:latin typeface="DejaVu Math TeX Gyre" panose="02000503000000000000" charset="0"/>
                    <a:ea typeface="MS Mincho" charset="0"/>
                    <a:cs typeface="DejaVu Math TeX Gyre" panose="02000503000000000000" charset="0"/>
                  </a:rPr>
                  <a:t>Facility Location</a:t>
                </a:r>
                <a:endParaRPr lang="en-US" altLang="zh-CN" sz="1600">
                  <a:solidFill>
                    <a:srgbClr val="1F2D3D"/>
                  </a:solidFill>
                  <a:latin typeface="DejaVu Math TeX Gyre" panose="02000503000000000000" charset="0"/>
                  <a:ea typeface="MS Mincho" charset="0"/>
                  <a:cs typeface="DejaVu Math TeX Gyre" panose="02000503000000000000" charset="0"/>
                </a:endParaRPr>
              </a:p>
              <a:p>
                <a:pPr algn="l">
                  <a:lnSpc>
                    <a:spcPct val="105000"/>
                  </a:lnSpc>
                  <a:buClrTx/>
                  <a:buSzTx/>
                  <a:buFontTx/>
                </a:pPr>
                <a:r>
                  <a:rPr lang="en-US" altLang="zh-CN" sz="1600">
                    <a:solidFill>
                      <a:srgbClr val="1F2D3D"/>
                    </a:solidFill>
                    <a:latin typeface="DejaVu Math TeX Gyre" panose="02000503000000000000" charset="0"/>
                    <a:ea typeface="MS Mincho" charset="0"/>
                    <a:cs typeface="DejaVu Math TeX Gyre" panose="02000503000000000000" charset="0"/>
                  </a:rPr>
                  <a:t>Maximum Independent Set</a:t>
                </a:r>
                <a:endParaRPr lang="en-US" altLang="zh-CN" sz="1600">
                  <a:solidFill>
                    <a:srgbClr val="1F2D3D"/>
                  </a:solidFill>
                  <a:latin typeface="DejaVu Math TeX Gyre" panose="02000503000000000000" charset="0"/>
                  <a:ea typeface="MS Mincho" charset="0"/>
                  <a:cs typeface="DejaVu Math TeX Gyre" panose="02000503000000000000" charset="0"/>
                </a:endParaRPr>
              </a:p>
              <a:p>
                <a:pPr algn="l">
                  <a:lnSpc>
                    <a:spcPct val="105000"/>
                  </a:lnSpc>
                  <a:buClrTx/>
                  <a:buSzTx/>
                  <a:buFontTx/>
                </a:pPr>
                <a:endParaRPr lang="en-US" altLang="zh-CN" sz="1600">
                  <a:solidFill>
                    <a:srgbClr val="1F2D3D"/>
                  </a:solidFill>
                  <a:latin typeface="DejaVu Math TeX Gyre" panose="02000503000000000000" charset="0"/>
                  <a:ea typeface="MS Mincho" charset="0"/>
                  <a:cs typeface="DejaVu Math TeX Gyre" panose="02000503000000000000" charset="0"/>
                </a:endParaRPr>
              </a:p>
              <a:p>
                <a:pPr algn="l">
                  <a:lnSpc>
                    <a:spcPct val="105000"/>
                  </a:lnSpc>
                  <a:buClrTx/>
                  <a:buSzTx/>
                  <a:buFontTx/>
                </a:pPr>
                <a:r>
                  <a:rPr lang="zh-CN" altLang="en-US" sz="1600">
                    <a:solidFill>
                      <a:srgbClr val="1F2D3D"/>
                    </a:solidFill>
                    <a:latin typeface="DejaVu Math TeX Gyre" panose="02000503000000000000" charset="0"/>
                    <a:ea typeface="MS Mincho" charset="0"/>
                    <a:cs typeface="DejaVu Math TeX Gyre" panose="02000503000000000000" charset="0"/>
                  </a:rPr>
                  <a:t>它验证的是四类通用</a:t>
                </a:r>
                <a:r>
                  <a:rPr lang="en-US" altLang="zh-CN" sz="1600">
                    <a:solidFill>
                      <a:srgbClr val="1F2D3D"/>
                    </a:solidFill>
                    <a:latin typeface="DejaVu Math TeX Gyre" panose="02000503000000000000" charset="0"/>
                    <a:ea typeface="MS Mincho" charset="0"/>
                    <a:cs typeface="DejaVu Math TeX Gyre" panose="02000503000000000000" charset="0"/>
                  </a:rPr>
                  <a:t>MILP</a:t>
                </a:r>
                <a:r>
                  <a:rPr lang="zh-CN" altLang="en-US" sz="1600">
                    <a:solidFill>
                      <a:srgbClr val="1F2D3D"/>
                    </a:solidFill>
                    <a:latin typeface="DejaVu Math TeX Gyre" panose="02000503000000000000" charset="0"/>
                    <a:ea typeface="MS Mincho" charset="0"/>
                    <a:cs typeface="DejaVu Math TeX Gyre" panose="02000503000000000000" charset="0"/>
                  </a:rPr>
                  <a:t>问题，并没有把研究重点放在</a:t>
                </a:r>
                <a:r>
                  <a:rPr lang="en-US" altLang="zh-CN" sz="1600">
                    <a:solidFill>
                      <a:srgbClr val="1F2D3D"/>
                    </a:solidFill>
                    <a:latin typeface="DejaVu Math TeX Gyre" panose="02000503000000000000" charset="0"/>
                    <a:ea typeface="MS Mincho" charset="0"/>
                    <a:cs typeface="DejaVu Math TeX Gyre" panose="02000503000000000000" charset="0"/>
                  </a:rPr>
                  <a:t> Unit Commitment </a:t>
                </a:r>
                <a:r>
                  <a:rPr lang="zh-CN" altLang="en-US" sz="1600">
                    <a:solidFill>
                      <a:srgbClr val="1F2D3D"/>
                    </a:solidFill>
                    <a:latin typeface="DejaVu Math TeX Gyre" panose="02000503000000000000" charset="0"/>
                    <a:ea typeface="MS Mincho" charset="0"/>
                    <a:cs typeface="DejaVu Math TeX Gyre" panose="02000503000000000000" charset="0"/>
                  </a:rPr>
                  <a:t>上。</a:t>
                </a:r>
                <a:endParaRPr lang="zh-CN" altLang="en-US" sz="1600">
                  <a:solidFill>
                    <a:srgbClr val="1F2D3D"/>
                  </a:solidFill>
                  <a:latin typeface="DejaVu Math TeX Gyre" panose="02000503000000000000" charset="0"/>
                  <a:ea typeface="MS Mincho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64" name="文本框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25" y="2689225"/>
                <a:ext cx="5819140" cy="397065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83464"/>
            <a:ext cx="512064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9D99"/>
                </a:solidFill>
                <a:latin typeface="Noto Sans CJK SC" panose="020B0500000000000000" charset="-122"/>
              </a:rPr>
              <a:t>05 · REPRODUCTION</a:t>
            </a:r>
            <a:endParaRPr sz="1000" b="1">
              <a:solidFill>
                <a:srgbClr val="0F9D99"/>
              </a:solidFill>
              <a:latin typeface="Noto Sans CJK SC" panose="020B05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6587490" cy="5080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223E"/>
                </a:solidFill>
                <a:latin typeface="Noto Sans CJK SC" panose="020B0500000000000000" charset="-122"/>
              </a:rPr>
              <a:t>复现从小规模可运行推进到公开模型可核对</a:t>
            </a:r>
            <a:endParaRPr sz="27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58368" y="1143000"/>
            <a:ext cx="10881360" cy="0"/>
          </a:xfrm>
          <a:prstGeom prst="line">
            <a:avLst/>
          </a:prstGeom>
          <a:ln w="1270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310896"/>
            <a:ext cx="2743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67085"/>
                </a:solidFill>
                <a:latin typeface="Noto Sans CJK SC" panose="020B0500000000000000" charset="-122"/>
              </a:rPr>
              <a:t>06</a:t>
            </a:r>
            <a:endParaRPr sz="9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49808" y="1481328"/>
            <a:ext cx="2331720" cy="1069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993392" cy="2468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3568D4"/>
                </a:solidFill>
                <a:latin typeface="Noto Sans CJK SC" panose="020B0500000000000000" charset="-122"/>
              </a:rPr>
              <a:t>Phase −1</a:t>
            </a:r>
            <a:endParaRPr sz="1400" b="1">
              <a:solidFill>
                <a:srgbClr val="3568D4"/>
              </a:solidFill>
              <a:latin typeface="Noto Sans CJK SC" panose="020B05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2057400" cy="42062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667085"/>
                </a:solidFill>
                <a:latin typeface="Noto Sans CJK SC" panose="020B0500000000000000" charset="-122"/>
              </a:rPr>
              <a:t>锁定上游环境
跑通搜索链路</a:t>
            </a:r>
            <a:endParaRPr sz="12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3145536" y="1810512"/>
            <a:ext cx="274320" cy="365760"/>
          </a:xfrm>
          <a:prstGeom prst="chevron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11296" y="1481328"/>
            <a:ext cx="2331720" cy="1069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7" y="1664208"/>
            <a:ext cx="1993392" cy="2468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3568D4"/>
                </a:solidFill>
                <a:latin typeface="Noto Sans CJK SC" panose="020B0500000000000000" charset="-122"/>
              </a:rPr>
              <a:t>Phase 0</a:t>
            </a:r>
            <a:endParaRPr sz="1400" b="1">
              <a:solidFill>
                <a:srgbClr val="3568D4"/>
              </a:solidFill>
              <a:latin typeface="Noto Sans CJK SC" panose="020B05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48456" y="1993392"/>
            <a:ext cx="2057400" cy="42062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667085"/>
                </a:solidFill>
                <a:latin typeface="Noto Sans CJK SC" panose="020B0500000000000000" charset="-122"/>
              </a:rPr>
              <a:t>UC + 变量评分
SCIP / Ecole 接通</a:t>
            </a:r>
            <a:endParaRPr sz="12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5907024" y="1810512"/>
            <a:ext cx="274320" cy="365760"/>
          </a:xfrm>
          <a:prstGeom prst="chevron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2784" y="1481328"/>
            <a:ext cx="2331720" cy="1069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1664208"/>
            <a:ext cx="1993392" cy="2468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3568D4"/>
                </a:solidFill>
                <a:latin typeface="Noto Sans CJK SC" panose="020B0500000000000000" charset="-122"/>
              </a:rPr>
              <a:t>Phase 1–2</a:t>
            </a:r>
            <a:endParaRPr sz="1400" b="1">
              <a:solidFill>
                <a:srgbClr val="3568D4"/>
              </a:solidFill>
              <a:latin typeface="Noto Sans CJK SC" panose="020B05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9944" y="1993392"/>
            <a:ext cx="2057400" cy="42062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667085"/>
                </a:solidFill>
                <a:latin typeface="Noto Sans CJK SC" panose="020B0500000000000000" charset="-122"/>
              </a:rPr>
              <a:t>结构分支 DSL
完成小规模试验</a:t>
            </a:r>
            <a:endParaRPr sz="12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sp>
        <p:nvSpPr>
          <p:cNvPr id="17" name="Chevron 16"/>
          <p:cNvSpPr/>
          <p:nvPr/>
        </p:nvSpPr>
        <p:spPr>
          <a:xfrm>
            <a:off x="8668512" y="1810512"/>
            <a:ext cx="274320" cy="365760"/>
          </a:xfrm>
          <a:prstGeom prst="chevron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34272" y="1481328"/>
            <a:ext cx="2331720" cy="1069848"/>
          </a:xfrm>
          <a:prstGeom prst="roundRect">
            <a:avLst>
              <a:gd name="adj" fmla="val 8000"/>
            </a:avLst>
          </a:prstGeom>
          <a:solidFill>
            <a:srgbClr val="E6F5F3"/>
          </a:solidFill>
          <a:ln w="12700">
            <a:solidFill>
              <a:srgbClr val="0F9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8864" y="1664208"/>
            <a:ext cx="1993392" cy="2468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F9D99"/>
                </a:solidFill>
                <a:latin typeface="Noto Sans CJK SC" panose="020B0500000000000000" charset="-122"/>
              </a:rPr>
              <a:t>Public UC</a:t>
            </a:r>
            <a:endParaRPr sz="1400" b="1">
              <a:solidFill>
                <a:srgbClr val="0F9D99"/>
              </a:solidFill>
              <a:latin typeface="Noto Sans CJK SC" panose="020B05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71432" y="1993392"/>
            <a:ext cx="2057400" cy="42062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667085"/>
                </a:solidFill>
                <a:latin typeface="Noto Sans CJK SC" panose="020B0500000000000000" charset="-122"/>
              </a:rPr>
              <a:t>官方数据 + MPS
进入目标规模</a:t>
            </a:r>
            <a:endParaRPr sz="12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6384" y="2999232"/>
            <a:ext cx="141732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10223E"/>
                </a:solidFill>
                <a:latin typeface="Noto Sans CJK SC" panose="020B0500000000000000" charset="-122"/>
              </a:rPr>
              <a:t>28</a:t>
            </a:r>
            <a:endParaRPr sz="24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6384" y="3438144"/>
            <a:ext cx="14173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667085"/>
                </a:solidFill>
                <a:latin typeface="Noto Sans CJK SC" panose="020B0500000000000000" charset="-122"/>
              </a:rPr>
              <a:t>公开 UC 实例</a:t>
            </a:r>
            <a:endParaRPr sz="11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78024" y="2999232"/>
            <a:ext cx="141732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10223E"/>
                </a:solidFill>
                <a:latin typeface="Noto Sans CJK SC" panose="020B0500000000000000" charset="-122"/>
              </a:rPr>
              <a:t>12 + 16</a:t>
            </a:r>
            <a:endParaRPr sz="24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78024" y="3438144"/>
            <a:ext cx="14173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667085"/>
                </a:solidFill>
                <a:latin typeface="Noto Sans CJK SC" panose="020B0500000000000000" charset="-122"/>
              </a:rPr>
              <a:t>OR-LIB / Tejada19</a:t>
            </a:r>
            <a:endParaRPr sz="11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169664" y="2999232"/>
            <a:ext cx="141732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10223E"/>
                </a:solidFill>
                <a:latin typeface="Noto Sans CJK SC" panose="020B0500000000000000" charset="-122"/>
              </a:rPr>
              <a:t>24 h</a:t>
            </a:r>
            <a:endParaRPr sz="24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69664" y="3438144"/>
            <a:ext cx="14173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667085"/>
                </a:solidFill>
                <a:latin typeface="Noto Sans CJK SC" panose="020B0500000000000000" charset="-122"/>
              </a:rPr>
              <a:t>统一时间跨度</a:t>
            </a:r>
            <a:endParaRPr sz="11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49808" y="3913632"/>
            <a:ext cx="5138928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4133087"/>
            <a:ext cx="12801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0223E"/>
                </a:solidFill>
                <a:latin typeface="Noto Sans CJK SC" panose="020B0500000000000000" charset="-122"/>
              </a:rPr>
              <a:t>数据冻结</a:t>
            </a:r>
            <a:endParaRPr sz="16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1024128" y="4599432"/>
            <a:ext cx="109728" cy="109728"/>
          </a:xfrm>
          <a:prstGeom prst="ellipse">
            <a:avLst/>
          </a:prstGeom>
          <a:solidFill>
            <a:srgbClr val="0F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4594860"/>
            <a:ext cx="10972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endParaRPr sz="1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34440" y="4517136"/>
            <a:ext cx="4224527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F2D3D"/>
                </a:solidFill>
                <a:latin typeface="Noto Sans CJK SC" panose="020B0500000000000000" charset="-122"/>
              </a:rPr>
              <a:t>Train 8 · Val 2 · Test 9 · OOD 9</a:t>
            </a:r>
            <a:endParaRPr sz="14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24128" y="5001768"/>
            <a:ext cx="109728" cy="109728"/>
          </a:xfrm>
          <a:prstGeom prst="ellipse">
            <a:avLst/>
          </a:prstGeom>
          <a:solidFill>
            <a:srgbClr val="0F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997196"/>
            <a:ext cx="10972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endParaRPr sz="1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234440" y="4919472"/>
            <a:ext cx="4224527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F2D3D"/>
                </a:solidFill>
                <a:latin typeface="Noto Sans CJK SC" panose="020B0500000000000000" charset="-122"/>
              </a:rPr>
              <a:t>SHA-256 防止文件与分组悄然变化</a:t>
            </a:r>
            <a:endParaRPr sz="14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199632" y="2926080"/>
            <a:ext cx="507492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172968"/>
            <a:ext cx="228600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0223E"/>
                </a:solidFill>
                <a:latin typeface="Noto Sans CJK SC" panose="020B0500000000000000" charset="-122"/>
              </a:rPr>
              <a:t>官方模型双向核对</a:t>
            </a:r>
            <a:endParaRPr sz="17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437376" y="3703320"/>
            <a:ext cx="4553712" cy="521207"/>
          </a:xfrm>
          <a:prstGeom prst="rect">
            <a:avLst/>
          </a:prstGeom>
          <a:solidFill>
            <a:srgbClr val="F2F6FA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47104" y="3813048"/>
            <a:ext cx="1143000" cy="2103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0223E"/>
                </a:solidFill>
                <a:latin typeface="Noto Sans CJK SC" panose="020B0500000000000000" charset="-122"/>
              </a:rPr>
              <a:t>OR-LIB 200</a:t>
            </a:r>
            <a:endParaRPr sz="12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44968" y="3813048"/>
            <a:ext cx="1609344" cy="2103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F2D3D"/>
                </a:solidFill>
                <a:latin typeface="Noto Sans CJK SC" panose="020B0500000000000000" charset="-122"/>
              </a:rPr>
              <a:t>35,875,463.302801</a:t>
            </a:r>
            <a:endParaRPr sz="11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418320" y="3813048"/>
            <a:ext cx="1426464" cy="2103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F9D99"/>
                </a:solidFill>
                <a:latin typeface="Noto Sans CJK SC" panose="020B0500000000000000" charset="-122"/>
              </a:rPr>
              <a:t>方案固定后一致</a:t>
            </a:r>
            <a:endParaRPr sz="1100" b="1">
              <a:solidFill>
                <a:srgbClr val="0F9D99"/>
              </a:solidFill>
              <a:latin typeface="Noto Sans CJK SC" panose="020B0500000000000000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437376" y="4361688"/>
            <a:ext cx="4553712" cy="521207"/>
          </a:xfrm>
          <a:prstGeom prst="rect">
            <a:avLst/>
          </a:prstGeom>
          <a:solidFill>
            <a:srgbClr val="F2F6FA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47104" y="4471416"/>
            <a:ext cx="1143000" cy="2103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0223E"/>
                </a:solidFill>
                <a:latin typeface="Noto Sans CJK SC" panose="020B0500000000000000" charset="-122"/>
              </a:rPr>
              <a:t>Tejada 214</a:t>
            </a:r>
            <a:endParaRPr sz="12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44968" y="4471416"/>
            <a:ext cx="1609344" cy="2103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F2D3D"/>
                </a:solidFill>
                <a:latin typeface="Noto Sans CJK SC" panose="020B0500000000000000" charset="-122"/>
              </a:rPr>
              <a:t>3,250,183.600388</a:t>
            </a:r>
            <a:endParaRPr sz="11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418320" y="4471416"/>
            <a:ext cx="1426464" cy="2103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F9D99"/>
                </a:solidFill>
                <a:latin typeface="Noto Sans CJK SC" panose="020B0500000000000000" charset="-122"/>
              </a:rPr>
              <a:t>双方均达最优</a:t>
            </a:r>
            <a:endParaRPr sz="1100" b="1">
              <a:solidFill>
                <a:srgbClr val="0F9D99"/>
              </a:solidFill>
              <a:latin typeface="Noto Sans CJK SC" panose="020B0500000000000000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46520" y="5056632"/>
            <a:ext cx="4553712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67085"/>
                </a:solidFill>
                <a:latin typeface="Noto Sans CJK SC" panose="020B0500000000000000" charset="-122"/>
              </a:rPr>
              <a:t>关键升级：正式分支实验读取 UnitCommitment.jl 官方 MPS，
不再依赖手工复刻所有强化约束。</a:t>
            </a:r>
            <a:endParaRPr sz="12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1016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83464"/>
            <a:ext cx="512064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9D99"/>
                </a:solidFill>
                <a:latin typeface="Noto Sans CJK SC" panose="020B0500000000000000" charset="-122"/>
              </a:rPr>
              <a:t>06 · EVIDENCE &amp; NEXT</a:t>
            </a:r>
            <a:endParaRPr sz="1000" b="1">
              <a:solidFill>
                <a:srgbClr val="0F9D99"/>
              </a:solidFill>
              <a:latin typeface="Noto Sans CJK SC" panose="020B05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7616190" cy="5080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223E"/>
                </a:solidFill>
                <a:latin typeface="Noto Sans CJK SC" panose="020B0500000000000000" charset="-122"/>
              </a:rPr>
              <a:t>分支策略可运行，但大规模瓶颈首先出现在根节点</a:t>
            </a:r>
            <a:endParaRPr sz="27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58368" y="1143000"/>
            <a:ext cx="10881360" cy="0"/>
          </a:xfrm>
          <a:prstGeom prst="line">
            <a:avLst/>
          </a:prstGeom>
          <a:ln w="1270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310896"/>
            <a:ext cx="2743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67085"/>
                </a:solidFill>
                <a:latin typeface="Noto Sans CJK SC" panose="020B0500000000000000" charset="-122"/>
              </a:rPr>
              <a:t>07</a:t>
            </a:r>
            <a:endParaRPr sz="9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49808" y="1380744"/>
            <a:ext cx="23317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527048"/>
            <a:ext cx="86868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1">
                <a:solidFill>
                  <a:srgbClr val="10223E"/>
                </a:solidFill>
                <a:latin typeface="Noto Sans CJK SC" panose="020B0500000000000000" charset="-122"/>
              </a:rPr>
              <a:t>16</a:t>
            </a:r>
            <a:endParaRPr sz="21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77148" y="1554480"/>
            <a:ext cx="1472565" cy="24955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100" b="0">
                <a:solidFill>
                  <a:srgbClr val="667085"/>
                </a:solidFill>
                <a:latin typeface="Noto Sans CJK SC" panose="020B0500000000000000" charset="-122"/>
              </a:rPr>
              <a:t>500</a:t>
            </a:r>
            <a:r>
              <a:rPr lang="zh-CN" altLang="en-US" sz="1100" b="0">
                <a:solidFill>
                  <a:srgbClr val="667085"/>
                </a:solidFill>
                <a:latin typeface="Noto Sans CJK SC" panose="020B0500000000000000" charset="-122"/>
              </a:rPr>
              <a:t>台以下公开</a:t>
            </a:r>
            <a:r>
              <a:rPr lang="en-US" altLang="zh-CN" sz="1100" b="0">
                <a:solidFill>
                  <a:srgbClr val="667085"/>
                </a:solidFill>
                <a:latin typeface="Noto Sans CJK SC" panose="020B0500000000000000" charset="-122"/>
              </a:rPr>
              <a:t>UC</a:t>
            </a:r>
            <a:r>
              <a:rPr lang="zh-CN" altLang="en-US" sz="1100" b="0">
                <a:solidFill>
                  <a:srgbClr val="667085"/>
                </a:solidFill>
                <a:latin typeface="Noto Sans CJK SC" panose="020B0500000000000000" charset="-122"/>
              </a:rPr>
              <a:t>模型</a:t>
            </a:r>
            <a:endParaRPr lang="zh-CN" altLang="en-US" sz="11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511296" y="1380744"/>
            <a:ext cx="23317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527048"/>
            <a:ext cx="86868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1">
                <a:solidFill>
                  <a:srgbClr val="10223E"/>
                </a:solidFill>
                <a:latin typeface="Noto Sans CJK SC" panose="020B0500000000000000" charset="-122"/>
              </a:rPr>
              <a:t>44</a:t>
            </a:r>
            <a:endParaRPr sz="21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43983" y="1554480"/>
            <a:ext cx="1261872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667085"/>
                </a:solidFill>
                <a:latin typeface="Noto Sans CJK SC" panose="020B0500000000000000" charset="-122"/>
              </a:rPr>
              <a:t>自适应求解次数</a:t>
            </a:r>
            <a:endParaRPr sz="11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72784" y="1380744"/>
            <a:ext cx="23317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27048"/>
            <a:ext cx="86868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1">
                <a:solidFill>
                  <a:srgbClr val="10223E"/>
                </a:solidFill>
                <a:latin typeface="Noto Sans CJK SC" panose="020B0500000000000000" charset="-122"/>
              </a:rPr>
              <a:t>42.7 min</a:t>
            </a:r>
            <a:endParaRPr sz="21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05472" y="1554480"/>
            <a:ext cx="1261872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667085"/>
                </a:solidFill>
                <a:latin typeface="Noto Sans CJK SC" panose="020B0500000000000000" charset="-122"/>
              </a:rPr>
              <a:t>累计墙钟</a:t>
            </a:r>
            <a:endParaRPr sz="11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034272" y="1380744"/>
            <a:ext cx="23317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2288" y="1527048"/>
            <a:ext cx="86868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1">
                <a:solidFill>
                  <a:srgbClr val="0F9D99"/>
                </a:solidFill>
                <a:latin typeface="Noto Sans CJK SC" panose="020B0500000000000000" charset="-122"/>
              </a:rPr>
              <a:t>3 / 16</a:t>
            </a:r>
            <a:endParaRPr sz="2100" b="1">
              <a:solidFill>
                <a:srgbClr val="0F9D99"/>
              </a:solidFill>
              <a:latin typeface="Noto Sans CJK SC" panose="020B05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966960" y="1554480"/>
            <a:ext cx="1261872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667085"/>
                </a:solidFill>
                <a:latin typeface="Noto Sans CJK SC" panose="020B0500000000000000" charset="-122"/>
              </a:rPr>
              <a:t>分支活跃实例</a:t>
            </a:r>
            <a:endParaRPr sz="1100" b="0">
              <a:solidFill>
                <a:srgbClr val="667085"/>
              </a:solidFill>
              <a:latin typeface="Noto Sans CJK SC" panose="020B05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8096" y="2505456"/>
            <a:ext cx="13716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0223E"/>
                </a:solidFill>
                <a:latin typeface="Noto Sans CJK SC" panose="020B0500000000000000" charset="-122"/>
              </a:rPr>
              <a:t>60 秒结果</a:t>
            </a:r>
            <a:endParaRPr sz="16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68096" y="2871216"/>
            <a:ext cx="1097280" cy="393192"/>
          </a:xfrm>
          <a:prstGeom prst="rect">
            <a:avLst/>
          </a:prstGeom>
          <a:solidFill>
            <a:srgbClr val="10223E"/>
          </a:solidFill>
          <a:ln w="12700">
            <a:solidFill>
              <a:srgbClr val="10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35224"/>
            <a:ext cx="1024127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 panose="020B0500000000000000" charset="-122"/>
              </a:rPr>
              <a:t>实例</a:t>
            </a:r>
            <a:endParaRPr sz="11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865376" y="2871216"/>
            <a:ext cx="1828800" cy="393192"/>
          </a:xfrm>
          <a:prstGeom prst="rect">
            <a:avLst/>
          </a:prstGeom>
          <a:solidFill>
            <a:srgbClr val="10223E"/>
          </a:solidFill>
          <a:ln w="12700">
            <a:solidFill>
              <a:srgbClr val="10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01952" y="2935224"/>
            <a:ext cx="1755648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 panose="020B0500000000000000" charset="-122"/>
              </a:rPr>
              <a:t>默认 SCIP</a:t>
            </a:r>
            <a:endParaRPr sz="11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694176" y="2871216"/>
            <a:ext cx="1691640" cy="393192"/>
          </a:xfrm>
          <a:prstGeom prst="rect">
            <a:avLst/>
          </a:prstGeom>
          <a:solidFill>
            <a:srgbClr val="10223E"/>
          </a:solidFill>
          <a:ln w="12700">
            <a:solidFill>
              <a:srgbClr val="10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1006" y="2935224"/>
            <a:ext cx="1617980" cy="24955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Noto Sans CJK SC" panose="020B0500000000000000" charset="-122"/>
              </a:rPr>
              <a:t>RPB</a:t>
            </a:r>
            <a:r>
              <a:rPr lang="en-US" sz="1100" b="1">
                <a:solidFill>
                  <a:srgbClr val="FFFFFF"/>
                </a:solidFill>
                <a:latin typeface="Noto Sans CJK SC" panose="020B0500000000000000" charset="-122"/>
              </a:rPr>
              <a:t>(SCIP</a:t>
            </a:r>
            <a:r>
              <a:rPr lang="zh-CN" altLang="en-US" sz="1100" b="1">
                <a:solidFill>
                  <a:srgbClr val="FFFFFF"/>
                </a:solidFill>
                <a:latin typeface="Noto Sans CJK SC" panose="020B0500000000000000" charset="-122"/>
              </a:rPr>
              <a:t>原有分支规则</a:t>
            </a:r>
            <a:r>
              <a:rPr lang="en-US" sz="1100" b="1">
                <a:solidFill>
                  <a:srgbClr val="FFFFFF"/>
                </a:solidFill>
                <a:latin typeface="Noto Sans CJK SC" panose="020B0500000000000000" charset="-122"/>
              </a:rPr>
              <a:t>)</a:t>
            </a:r>
            <a:endParaRPr lang="en-US" sz="11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385816" y="2871216"/>
            <a:ext cx="1965960" cy="393192"/>
          </a:xfrm>
          <a:prstGeom prst="rect">
            <a:avLst/>
          </a:prstGeom>
          <a:solidFill>
            <a:srgbClr val="10223E"/>
          </a:solidFill>
          <a:ln w="12700">
            <a:solidFill>
              <a:srgbClr val="10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73801" y="2935224"/>
            <a:ext cx="1189990" cy="24955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zh-CN" sz="1100" b="1">
                <a:solidFill>
                  <a:srgbClr val="FFFFFF"/>
                </a:solidFill>
                <a:latin typeface="Noto Sans CJK SC" panose="020B0500000000000000" charset="-122"/>
              </a:rPr>
              <a:t>论文</a:t>
            </a:r>
            <a:r>
              <a:rPr sz="1100" b="1">
                <a:solidFill>
                  <a:srgbClr val="FFFFFF"/>
                </a:solidFill>
                <a:latin typeface="Noto Sans CJK SC" panose="020B0500000000000000" charset="-122"/>
              </a:rPr>
              <a:t>最佳公开程序</a:t>
            </a:r>
            <a:endParaRPr sz="11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68096" y="3264408"/>
            <a:ext cx="109728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374136"/>
            <a:ext cx="1024127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2D3D"/>
                </a:solidFill>
                <a:latin typeface="Noto Sans CJK SC" panose="020B0500000000000000" charset="-122"/>
              </a:rPr>
              <a:t>214</a:t>
            </a:r>
            <a:endParaRPr sz="1100" b="1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865376" y="3264408"/>
            <a:ext cx="182880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01952" y="3374136"/>
            <a:ext cx="17556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F2D3D"/>
                </a:solidFill>
                <a:latin typeface="Noto Sans CJK SC" panose="020B0500000000000000" charset="-122"/>
              </a:rPr>
              <a:t>18.6s 最优</a:t>
            </a:r>
            <a:endParaRPr sz="11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694176" y="3264408"/>
            <a:ext cx="169164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30752" y="3374136"/>
            <a:ext cx="161848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F2D3D"/>
                </a:solidFill>
                <a:latin typeface="Noto Sans CJK SC" panose="020B0500000000000000" charset="-122"/>
              </a:rPr>
              <a:t>56.3s 最优</a:t>
            </a:r>
            <a:endParaRPr sz="11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385816" y="3264408"/>
            <a:ext cx="196596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57253" y="3374136"/>
            <a:ext cx="1823085" cy="24955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100">
                <a:solidFill>
                  <a:srgbClr val="1F2D3D"/>
                </a:solidFill>
                <a:latin typeface="Noto Sans CJK SC" panose="020B0500000000000000" charset="-122"/>
                <a:sym typeface="+mn-ea"/>
              </a:rPr>
              <a:t>60s</a:t>
            </a:r>
            <a:r>
              <a:rPr lang="zh-CN" sz="1100">
                <a:solidFill>
                  <a:srgbClr val="1F2D3D"/>
                </a:solidFill>
                <a:latin typeface="Noto Sans CJK SC" panose="020B0500000000000000" charset="-122"/>
                <a:sym typeface="+mn-ea"/>
              </a:rPr>
              <a:t>超时，</a:t>
            </a:r>
            <a:r>
              <a:rPr sz="1100" b="0">
                <a:solidFill>
                  <a:srgbClr val="1F2D3D"/>
                </a:solidFill>
                <a:latin typeface="Noto Sans CJK SC" panose="020B0500000000000000" charset="-122"/>
              </a:rPr>
              <a:t>indset · 4.28e−7</a:t>
            </a:r>
            <a:endParaRPr sz="11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68096" y="3730752"/>
            <a:ext cx="1097280" cy="466344"/>
          </a:xfrm>
          <a:prstGeom prst="rect">
            <a:avLst/>
          </a:prstGeom>
          <a:solidFill>
            <a:srgbClr val="F0F4F9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3840480"/>
            <a:ext cx="1024127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F2D3D"/>
                </a:solidFill>
                <a:latin typeface="Noto Sans CJK SC" panose="020B0500000000000000" charset="-122"/>
              </a:rPr>
              <a:t>250</a:t>
            </a:r>
            <a:endParaRPr sz="11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865376" y="3730752"/>
            <a:ext cx="1828800" cy="466344"/>
          </a:xfrm>
          <a:prstGeom prst="rect">
            <a:avLst/>
          </a:prstGeom>
          <a:solidFill>
            <a:srgbClr val="F0F4F9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01952" y="3840480"/>
            <a:ext cx="17556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F2D3D"/>
                </a:solidFill>
                <a:latin typeface="Noto Sans CJK SC" panose="020B0500000000000000" charset="-122"/>
              </a:rPr>
              <a:t>32.2s 最优</a:t>
            </a:r>
            <a:endParaRPr sz="11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694176" y="3730752"/>
            <a:ext cx="1691640" cy="466344"/>
          </a:xfrm>
          <a:prstGeom prst="rect">
            <a:avLst/>
          </a:prstGeom>
          <a:solidFill>
            <a:srgbClr val="F0F4F9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71646" y="3840480"/>
            <a:ext cx="1536700" cy="24955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100" b="0">
                <a:solidFill>
                  <a:srgbClr val="1F2D3D"/>
                </a:solidFill>
                <a:latin typeface="Noto Sans CJK SC" panose="020B0500000000000000" charset="-122"/>
              </a:rPr>
              <a:t>60s</a:t>
            </a:r>
            <a:r>
              <a:rPr lang="zh-CN" sz="1100" b="0">
                <a:solidFill>
                  <a:srgbClr val="1F2D3D"/>
                </a:solidFill>
                <a:latin typeface="Noto Sans CJK SC" panose="020B0500000000000000" charset="-122"/>
              </a:rPr>
              <a:t>超时，</a:t>
            </a:r>
            <a:r>
              <a:rPr lang="en-US" altLang="zh-CN" sz="1100" b="0">
                <a:solidFill>
                  <a:srgbClr val="1F2D3D"/>
                </a:solidFill>
                <a:latin typeface="Noto Sans CJK SC" panose="020B0500000000000000" charset="-122"/>
              </a:rPr>
              <a:t>gap=</a:t>
            </a:r>
            <a:r>
              <a:rPr sz="1100" b="0">
                <a:solidFill>
                  <a:srgbClr val="1F2D3D"/>
                </a:solidFill>
                <a:latin typeface="Noto Sans CJK SC" panose="020B0500000000000000" charset="-122"/>
              </a:rPr>
              <a:t>1.97e−6</a:t>
            </a:r>
            <a:endParaRPr sz="11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385816" y="3730752"/>
            <a:ext cx="1965960" cy="466344"/>
          </a:xfrm>
          <a:prstGeom prst="rect">
            <a:avLst/>
          </a:prstGeom>
          <a:solidFill>
            <a:srgbClr val="F0F4F9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86768" y="3840480"/>
            <a:ext cx="1964055" cy="24955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100">
                <a:solidFill>
                  <a:srgbClr val="1F2D3D"/>
                </a:solidFill>
                <a:latin typeface="Noto Sans CJK SC" panose="020B0500000000000000" charset="-122"/>
                <a:sym typeface="+mn-ea"/>
              </a:rPr>
              <a:t>60s</a:t>
            </a:r>
            <a:r>
              <a:rPr lang="zh-CN" sz="1100">
                <a:solidFill>
                  <a:srgbClr val="1F2D3D"/>
                </a:solidFill>
                <a:latin typeface="Noto Sans CJK SC" panose="020B0500000000000000" charset="-122"/>
                <a:sym typeface="+mn-ea"/>
              </a:rPr>
              <a:t>超时，</a:t>
            </a:r>
            <a:r>
              <a:rPr lang="en-US" altLang="zh-CN" sz="1100">
                <a:solidFill>
                  <a:srgbClr val="1F2D3D"/>
                </a:solidFill>
                <a:latin typeface="Noto Sans CJK SC" panose="020B0500000000000000" charset="-122"/>
                <a:sym typeface="+mn-ea"/>
              </a:rPr>
              <a:t>f</a:t>
            </a:r>
            <a:r>
              <a:rPr sz="1100" b="0">
                <a:solidFill>
                  <a:srgbClr val="1F2D3D"/>
                </a:solidFill>
                <a:latin typeface="Noto Sans CJK SC" panose="020B0500000000000000" charset="-122"/>
              </a:rPr>
              <a:t>acilities · 5.65e−7</a:t>
            </a:r>
            <a:endParaRPr sz="11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68096" y="4197096"/>
            <a:ext cx="109728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" y="4306824"/>
            <a:ext cx="1024127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F2D3D"/>
                </a:solidFill>
                <a:latin typeface="Noto Sans CJK SC" panose="020B0500000000000000" charset="-122"/>
              </a:rPr>
              <a:t>290</a:t>
            </a:r>
            <a:endParaRPr sz="11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865376" y="4197096"/>
            <a:ext cx="182880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01952" y="4306824"/>
            <a:ext cx="17556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F2D3D"/>
                </a:solidFill>
                <a:latin typeface="Noto Sans CJK SC" panose="020B0500000000000000" charset="-122"/>
              </a:rPr>
              <a:t>30.1s 最优</a:t>
            </a:r>
            <a:endParaRPr sz="11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694176" y="4197096"/>
            <a:ext cx="169164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71646" y="4306824"/>
            <a:ext cx="1536700" cy="24955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100">
                <a:solidFill>
                  <a:srgbClr val="1F2D3D"/>
                </a:solidFill>
                <a:latin typeface="Noto Sans CJK SC" panose="020B0500000000000000" charset="-122"/>
                <a:sym typeface="+mn-ea"/>
              </a:rPr>
              <a:t>60s</a:t>
            </a:r>
            <a:r>
              <a:rPr lang="zh-CN" sz="1100">
                <a:solidFill>
                  <a:srgbClr val="1F2D3D"/>
                </a:solidFill>
                <a:latin typeface="Noto Sans CJK SC" panose="020B0500000000000000" charset="-122"/>
                <a:sym typeface="+mn-ea"/>
              </a:rPr>
              <a:t>超时，</a:t>
            </a:r>
            <a:r>
              <a:rPr lang="en-US" altLang="zh-CN" sz="1100">
                <a:solidFill>
                  <a:srgbClr val="1F2D3D"/>
                </a:solidFill>
                <a:latin typeface="Noto Sans CJK SC" panose="020B0500000000000000" charset="-122"/>
                <a:sym typeface="+mn-ea"/>
              </a:rPr>
              <a:t>gap=</a:t>
            </a:r>
            <a:r>
              <a:rPr sz="1100" b="0">
                <a:solidFill>
                  <a:srgbClr val="1F2D3D"/>
                </a:solidFill>
                <a:latin typeface="Noto Sans CJK SC" panose="020B0500000000000000" charset="-122"/>
              </a:rPr>
              <a:t>9.86e−7</a:t>
            </a:r>
            <a:endParaRPr sz="11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385816" y="4197096"/>
            <a:ext cx="196596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86768" y="4306824"/>
            <a:ext cx="1964055" cy="24955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100">
                <a:solidFill>
                  <a:srgbClr val="1F2D3D"/>
                </a:solidFill>
                <a:latin typeface="Noto Sans CJK SC" panose="020B0500000000000000" charset="-122"/>
                <a:sym typeface="+mn-ea"/>
              </a:rPr>
              <a:t>60s</a:t>
            </a:r>
            <a:r>
              <a:rPr lang="zh-CN" sz="1100">
                <a:solidFill>
                  <a:srgbClr val="1F2D3D"/>
                </a:solidFill>
                <a:latin typeface="Noto Sans CJK SC" panose="020B0500000000000000" charset="-122"/>
                <a:sym typeface="+mn-ea"/>
              </a:rPr>
              <a:t>超时，</a:t>
            </a:r>
            <a:r>
              <a:rPr sz="1100" b="0">
                <a:solidFill>
                  <a:srgbClr val="1F2D3D"/>
                </a:solidFill>
                <a:latin typeface="Noto Sans CJK SC" panose="020B0500000000000000" charset="-122"/>
              </a:rPr>
              <a:t>facilities · 1.47e−7</a:t>
            </a:r>
            <a:endParaRPr sz="11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768096" y="4800600"/>
            <a:ext cx="6583680" cy="804672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 w="12700">
            <a:solidFill>
              <a:srgbClr val="D7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7552" y="4965192"/>
            <a:ext cx="6144768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D75B5B"/>
                </a:solidFill>
                <a:latin typeface="Noto Sans CJK SC" panose="020B0500000000000000" charset="-122"/>
              </a:rPr>
              <a:t>根节点受限：12 个 OR-LIB + Tejada 480
在第一次分支前已耗尽 60 秒，评分程序没有控制权。</a:t>
            </a:r>
            <a:endParaRPr sz="1300" b="1">
              <a:solidFill>
                <a:srgbClr val="D75B5B"/>
              </a:solidFill>
              <a:latin typeface="Noto Sans CJK SC" panose="020B0500000000000000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7662672" y="2505456"/>
            <a:ext cx="3602736" cy="3099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36992" y="2761488"/>
            <a:ext cx="13716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0223E"/>
                </a:solidFill>
                <a:latin typeface="Noto Sans CJK SC" panose="020B0500000000000000" charset="-122"/>
              </a:rPr>
              <a:t>路线判断</a:t>
            </a:r>
            <a:endParaRPr sz="1700" b="1">
              <a:solidFill>
                <a:srgbClr val="10223E"/>
              </a:solidFill>
              <a:latin typeface="Noto Sans CJK SC" panose="020B0500000000000000" charset="-122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7936992" y="3264408"/>
            <a:ext cx="109728" cy="109728"/>
          </a:xfrm>
          <a:prstGeom prst="ellipse">
            <a:avLst/>
          </a:prstGeom>
          <a:solidFill>
            <a:srgbClr val="0F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36992" y="3259836"/>
            <a:ext cx="10972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endParaRPr sz="1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147304" y="3182112"/>
            <a:ext cx="2807208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F2D3D"/>
                </a:solidFill>
                <a:latin typeface="Noto Sans CJK SC" panose="020B0500000000000000" charset="-122"/>
              </a:rPr>
              <a:t>默认 SCIP 当前仍是最强实用基准</a:t>
            </a:r>
            <a:endParaRPr sz="14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7936992" y="3776472"/>
            <a:ext cx="109728" cy="109728"/>
          </a:xfrm>
          <a:prstGeom prst="ellipse">
            <a:avLst/>
          </a:prstGeom>
          <a:solidFill>
            <a:srgbClr val="0F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36992" y="3771900"/>
            <a:ext cx="10972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endParaRPr sz="1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147304" y="3694176"/>
            <a:ext cx="2807208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F2D3D"/>
                </a:solidFill>
                <a:latin typeface="Noto Sans CJK SC" panose="020B0500000000000000" charset="-122"/>
              </a:rPr>
              <a:t>91 维特征可复用，公开规则不稳定</a:t>
            </a:r>
            <a:endParaRPr sz="14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7936992" y="4288536"/>
            <a:ext cx="109728" cy="109728"/>
          </a:xfrm>
          <a:prstGeom prst="ellipse">
            <a:avLst/>
          </a:prstGeom>
          <a:solidFill>
            <a:srgbClr val="0F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36992" y="4283964"/>
            <a:ext cx="10972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endParaRPr sz="1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147304" y="4206240"/>
            <a:ext cx="2807208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F2D3D"/>
                </a:solidFill>
                <a:latin typeface="Noto Sans CJK SC" panose="020B0500000000000000" charset="-122"/>
              </a:rPr>
              <a:t>214–290 台：继续学习 UC 专用规则</a:t>
            </a:r>
            <a:endParaRPr sz="14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7936992" y="4800600"/>
            <a:ext cx="109728" cy="109728"/>
          </a:xfrm>
          <a:prstGeom prst="ellipse">
            <a:avLst/>
          </a:prstGeom>
          <a:solidFill>
            <a:srgbClr val="E9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36992" y="4796028"/>
            <a:ext cx="10972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endParaRPr sz="100" b="1">
              <a:solidFill>
                <a:srgbClr val="FFFFFF"/>
              </a:solidFill>
              <a:latin typeface="Noto Sans CJK SC" panose="020B0500000000000000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147304" y="4718304"/>
            <a:ext cx="2807208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F2D3D"/>
                </a:solidFill>
                <a:latin typeface="Noto Sans CJK SC" panose="020B0500000000000000" charset="-122"/>
              </a:rPr>
              <a:t>≥480 台：先研究根节点与模型表示</a:t>
            </a:r>
            <a:endParaRPr sz="1400" b="0">
              <a:solidFill>
                <a:srgbClr val="1F2D3D"/>
              </a:solidFill>
              <a:latin typeface="Noto Sans CJK SC" panose="020B0500000000000000" charset="-122"/>
            </a:endParaRPr>
          </a:p>
        </p:txBody>
      </p:sp>
      <p:cxnSp>
        <p:nvCxnSpPr>
          <p:cNvPr id="69" name="Connector 68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1016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2386</Words>
  <Application>WPS 演示</Application>
  <PresentationFormat>On-screen Show (4:3)</PresentationFormat>
  <Paragraphs>360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宋体</vt:lpstr>
      <vt:lpstr>Wingdings</vt:lpstr>
      <vt:lpstr>Arial</vt:lpstr>
      <vt:lpstr>Noto Sans CJK SC</vt:lpstr>
      <vt:lpstr>Calibri</vt:lpstr>
      <vt:lpstr>Trebuchet MS</vt:lpstr>
      <vt:lpstr>宋体</vt:lpstr>
      <vt:lpstr>Noto Serif CJK SC</vt:lpstr>
      <vt:lpstr>微软雅黑</vt:lpstr>
      <vt:lpstr>Arial Unicode MS</vt:lpstr>
      <vt:lpstr>Andika</vt:lpstr>
      <vt:lpstr>文泉驿微米黑</vt:lpstr>
      <vt:lpstr>DejaVu Math TeX Gyre</vt:lpstr>
      <vt:lpstr>MS Mincho</vt:lpstr>
      <vt:lpstr>Comfortaa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tessia</cp:lastModifiedBy>
  <cp:revision>16</cp:revision>
  <dcterms:created xsi:type="dcterms:W3CDTF">2026-09-21T06:49:54Z</dcterms:created>
  <dcterms:modified xsi:type="dcterms:W3CDTF">2026-09-21T06:49:54Z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E362594F2A1C38485DC3B06A19427FAA_42</vt:lpwstr>
  </property>
  <property fmtid="{D5CDD505-2E9C-101B-9397-08002B2CF9AE}" pid="3" name="KSOProductBuildVer">
    <vt:lpwstr>2052-12.1.2.22571</vt:lpwstr>
  </property>
</Properties>
</file>